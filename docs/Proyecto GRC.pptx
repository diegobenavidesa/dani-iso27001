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  <p:embeddedFont>
      <p:font typeface="Outfit"/>
      <p:regular r:id="rId25"/>
      <p:bold r:id="rId26"/>
    </p:embeddedFont>
    <p:embeddedFont>
      <p:font typeface="Outfit Medium"/>
      <p:regular r:id="rId27"/>
      <p:bold r:id="rId28"/>
    </p:embeddedFont>
    <p:embeddedFont>
      <p:font typeface="Space Grotesk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iCNVq75SSrqBZNc/lpjX6fYbim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D9181B6-D084-4A61-835A-112BEA27A2F9}">
  <a:tblStyle styleId="{5D9181B6-D084-4A61-835A-112BEA27A2F9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F81BD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F81BD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utfit-bold.fntdata"/><Relationship Id="rId25" Type="http://schemas.openxmlformats.org/officeDocument/2006/relationships/font" Target="fonts/Outfit-regular.fntdata"/><Relationship Id="rId28" Type="http://schemas.openxmlformats.org/officeDocument/2006/relationships/font" Target="fonts/OutfitMedium-bold.fntdata"/><Relationship Id="rId27" Type="http://schemas.openxmlformats.org/officeDocument/2006/relationships/font" Target="fonts/Outfit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SpaceGrotesk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SpaceGrotesk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0.xml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9df1562e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f9df1562e5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9df1562e5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f9df1562e5_0_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9dcd7134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https://github.com/DiegoBenavidesA/Dani-ISO27001.git</a:t>
            </a:r>
            <a:endParaRPr/>
          </a:p>
        </p:txBody>
      </p:sp>
      <p:sp>
        <p:nvSpPr>
          <p:cNvPr id="209" name="Google Shape;209;g3f9dcd7134b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16.png"/><Relationship Id="rId8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2145506" y="1893689"/>
            <a:ext cx="79011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64FFDA"/>
                </a:solidFill>
                <a:latin typeface="Outfit"/>
                <a:ea typeface="Outfit"/>
                <a:cs typeface="Outfit"/>
                <a:sym typeface="Outfit"/>
              </a:rPr>
              <a:t>Proyecto </a:t>
            </a:r>
            <a:r>
              <a:rPr b="1" lang="en-US" sz="5250">
                <a:solidFill>
                  <a:srgbClr val="64FFDA"/>
                </a:solidFill>
                <a:latin typeface="Outfit"/>
                <a:ea typeface="Outfit"/>
                <a:cs typeface="Outfit"/>
                <a:sym typeface="Outfit"/>
              </a:rPr>
              <a:t>GRC</a:t>
            </a:r>
            <a:endParaRPr b="1" sz="5250">
              <a:solidFill>
                <a:srgbClr val="64FFD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250">
              <a:solidFill>
                <a:srgbClr val="64FFDA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333625" y="2922389"/>
            <a:ext cx="7524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Ingenieria en informatica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2333625" y="3604319"/>
            <a:ext cx="7524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8B2D1"/>
                </a:solidFill>
                <a:latin typeface="Inter"/>
                <a:ea typeface="Inter"/>
                <a:cs typeface="Inter"/>
                <a:sym typeface="Inter"/>
              </a:rPr>
              <a:t>Asignatura: Capstone – Portafolio de Título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2333625" y="4320480"/>
            <a:ext cx="75247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8B2D1"/>
                </a:solidFill>
                <a:latin typeface="Inter"/>
                <a:ea typeface="Inter"/>
                <a:cs typeface="Inter"/>
                <a:sym typeface="Inter"/>
              </a:rPr>
              <a:t>Integrantes: Raúl Barrera, Caline Alcaíno y Justo Cano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A8B2D1"/>
                </a:solidFill>
                <a:latin typeface="Inter"/>
                <a:ea typeface="Inter"/>
                <a:cs typeface="Inter"/>
                <a:sym typeface="Inter"/>
              </a:rPr>
              <a:t> Sede Padre Alonso Ovalle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9335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"/>
          <p:cNvSpPr txBox="1"/>
          <p:nvPr/>
        </p:nvSpPr>
        <p:spPr>
          <a:xfrm>
            <a:off x="995725" y="1943100"/>
            <a:ext cx="423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Las empresas deben proteger datos → ISO 27001 (el sello de confianza)</a:t>
            </a:r>
            <a:endParaRPr/>
          </a:p>
        </p:txBody>
      </p:sp>
      <p:pic>
        <p:nvPicPr>
          <p:cNvPr descr="image.png" id="95" name="Google Shape;9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1275" y="1943100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64FFDA"/>
                </a:solidFill>
                <a:latin typeface="Outfit"/>
                <a:ea typeface="Outfit"/>
                <a:cs typeface="Outfit"/>
                <a:sym typeface="Outfit"/>
              </a:rPr>
              <a:t>Fundamentación del Proyecto</a:t>
            </a:r>
            <a:endParaRPr/>
          </a:p>
        </p:txBody>
      </p:sp>
      <p:pic>
        <p:nvPicPr>
          <p:cNvPr descr="image.png" id="97" name="Google Shape;9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350" y="194310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 txBox="1"/>
          <p:nvPr/>
        </p:nvSpPr>
        <p:spPr>
          <a:xfrm>
            <a:off x="995725" y="4450425"/>
            <a:ext cx="3576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Nuestra solución: ISO 27001 + Ley 21.719 con IA</a:t>
            </a:r>
            <a:endParaRPr/>
          </a:p>
        </p:txBody>
      </p:sp>
      <p:pic>
        <p:nvPicPr>
          <p:cNvPr descr="image.png" id="99" name="Google Shape;9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350" y="445042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 txBox="1"/>
          <p:nvPr/>
        </p:nvSpPr>
        <p:spPr>
          <a:xfrm>
            <a:off x="995725" y="2901975"/>
            <a:ext cx="4048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Certificarse es caro y lento → USD 45.000 a más de 80.000</a:t>
            </a:r>
            <a:endParaRPr/>
          </a:p>
        </p:txBody>
      </p:sp>
      <p:pic>
        <p:nvPicPr>
          <p:cNvPr descr="image.png" id="101" name="Google Shape;10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350" y="290197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 txBox="1"/>
          <p:nvPr/>
        </p:nvSpPr>
        <p:spPr>
          <a:xfrm>
            <a:off x="995725" y="3860850"/>
            <a:ext cx="3730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El </a:t>
            </a:r>
            <a:r>
              <a:rPr b="1" lang="en-US" sz="1500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avance</a:t>
            </a:r>
            <a:r>
              <a:rPr b="1" lang="en-US" sz="1500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 de la IA</a:t>
            </a:r>
            <a:endParaRPr/>
          </a:p>
        </p:txBody>
      </p:sp>
      <p:pic>
        <p:nvPicPr>
          <p:cNvPr descr="image.png" id="103" name="Google Shape;10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350" y="3860850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 txBox="1"/>
          <p:nvPr/>
        </p:nvSpPr>
        <p:spPr>
          <a:xfrm>
            <a:off x="995725" y="5260950"/>
            <a:ext cx="4321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Vigencia plena: diciembre 2026</a:t>
            </a:r>
            <a:endParaRPr b="1" sz="1500">
              <a:solidFill>
                <a:srgbClr val="E6F1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E6F1FF"/>
                </a:solidFill>
                <a:latin typeface="Inter"/>
                <a:ea typeface="Inter"/>
                <a:cs typeface="Inter"/>
                <a:sym typeface="Inter"/>
              </a:rPr>
              <a:t>Multas hasta 4% de los ingresos</a:t>
            </a:r>
            <a:endParaRPr b="1" sz="1500">
              <a:solidFill>
                <a:srgbClr val="E6F1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05" name="Google Shape;10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350" y="526095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g3f9df1562e5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675" y="4801444"/>
            <a:ext cx="279590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g3f9df1562e5_0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g3f9df1562e5_0_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2026450"/>
            <a:ext cx="8042674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f9df1562e5_0_7"/>
          <p:cNvSpPr txBox="1"/>
          <p:nvPr/>
        </p:nvSpPr>
        <p:spPr>
          <a:xfrm>
            <a:off x="932950" y="2026450"/>
            <a:ext cx="7136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Integrar los requerimientos de la Ley 21.719 en la plataforma GCR existente, ampliando sus funcionalidades para la gestión de la protección de datos personales.</a:t>
            </a:r>
            <a:endParaRPr sz="1500"/>
          </a:p>
        </p:txBody>
      </p:sp>
      <p:sp>
        <p:nvSpPr>
          <p:cNvPr id="114" name="Google Shape;114;g3f9df1562e5_0_7"/>
          <p:cNvSpPr txBox="1"/>
          <p:nvPr/>
        </p:nvSpPr>
        <p:spPr>
          <a:xfrm>
            <a:off x="1127745" y="4049650"/>
            <a:ext cx="3179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01- Analizar </a:t>
            </a:r>
            <a:endParaRPr sz="1500">
              <a:solidFill>
                <a:srgbClr val="8892B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Requerimientos</a:t>
            </a:r>
            <a:r>
              <a:rPr lang="en-US" sz="150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Ley 21.719</a:t>
            </a:r>
            <a:endParaRPr sz="1500">
              <a:solidFill>
                <a:srgbClr val="8892B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g3f9df1562e5_0_7"/>
          <p:cNvSpPr txBox="1"/>
          <p:nvPr/>
        </p:nvSpPr>
        <p:spPr>
          <a:xfrm>
            <a:off x="1127746" y="4871675"/>
            <a:ext cx="2998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02- Evaluar</a:t>
            </a:r>
            <a:endParaRPr sz="1500">
              <a:solidFill>
                <a:srgbClr val="8892B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Plataforma GRC existente</a:t>
            </a:r>
            <a:endParaRPr sz="1500">
              <a:solidFill>
                <a:srgbClr val="8892B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" name="Google Shape;116;g3f9df1562e5_0_7"/>
          <p:cNvSpPr txBox="1"/>
          <p:nvPr/>
        </p:nvSpPr>
        <p:spPr>
          <a:xfrm>
            <a:off x="1127757" y="5693707"/>
            <a:ext cx="3344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03- Diseñar</a:t>
            </a:r>
            <a:endParaRPr sz="1500">
              <a:solidFill>
                <a:srgbClr val="8892B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Interfaces, flujos y datos</a:t>
            </a:r>
            <a:endParaRPr sz="1500">
              <a:solidFill>
                <a:srgbClr val="8892B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g3f9df1562e5_0_7"/>
          <p:cNvSpPr txBox="1"/>
          <p:nvPr/>
        </p:nvSpPr>
        <p:spPr>
          <a:xfrm>
            <a:off x="4777950" y="4049650"/>
            <a:ext cx="3344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04- Desarrollar	</a:t>
            </a:r>
            <a:endParaRPr sz="1500">
              <a:solidFill>
                <a:srgbClr val="8892B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Módulos de la plataforma	</a:t>
            </a:r>
            <a:endParaRPr sz="1500">
              <a:solidFill>
                <a:srgbClr val="8892B0"/>
              </a:solidFill>
            </a:endParaRPr>
          </a:p>
        </p:txBody>
      </p:sp>
      <p:sp>
        <p:nvSpPr>
          <p:cNvPr id="118" name="Google Shape;118;g3f9df1562e5_0_7"/>
          <p:cNvSpPr txBox="1"/>
          <p:nvPr/>
        </p:nvSpPr>
        <p:spPr>
          <a:xfrm>
            <a:off x="4777950" y="4871663"/>
            <a:ext cx="2918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05- Adaptar</a:t>
            </a:r>
            <a:endParaRPr sz="1500">
              <a:solidFill>
                <a:srgbClr val="8892B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Asistente IA a la Ley 21.719</a:t>
            </a:r>
            <a:endParaRPr sz="1500">
              <a:solidFill>
                <a:srgbClr val="8892B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" name="Google Shape;119;g3f9df1562e5_0_7"/>
          <p:cNvSpPr txBox="1"/>
          <p:nvPr/>
        </p:nvSpPr>
        <p:spPr>
          <a:xfrm>
            <a:off x="4777951" y="5693700"/>
            <a:ext cx="3179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06- Validar</a:t>
            </a:r>
            <a:endParaRPr sz="1500">
              <a:solidFill>
                <a:srgbClr val="8892B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QA y pruebas </a:t>
            </a:r>
            <a:r>
              <a:rPr lang="en-US" sz="150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funcionamiento</a:t>
            </a:r>
            <a:endParaRPr sz="1500">
              <a:solidFill>
                <a:srgbClr val="8892B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" name="Google Shape;120;g3f9df1562e5_0_7"/>
          <p:cNvSpPr txBox="1"/>
          <p:nvPr/>
        </p:nvSpPr>
        <p:spPr>
          <a:xfrm>
            <a:off x="738150" y="4199638"/>
            <a:ext cx="7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21" name="Google Shape;121;g3f9df1562e5_0_7"/>
          <p:cNvSpPr txBox="1"/>
          <p:nvPr/>
        </p:nvSpPr>
        <p:spPr>
          <a:xfrm>
            <a:off x="666750" y="4848569"/>
            <a:ext cx="7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22" name="Google Shape;122;g3f9df1562e5_0_7"/>
          <p:cNvSpPr txBox="1"/>
          <p:nvPr/>
        </p:nvSpPr>
        <p:spPr>
          <a:xfrm>
            <a:off x="666750" y="5725564"/>
            <a:ext cx="7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23" name="Google Shape;123;g3f9df1562e5_0_7"/>
          <p:cNvSpPr txBox="1"/>
          <p:nvPr/>
        </p:nvSpPr>
        <p:spPr>
          <a:xfrm>
            <a:off x="4506692" y="4230538"/>
            <a:ext cx="71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24" name="Google Shape;124;g3f9df1562e5_0_7"/>
          <p:cNvSpPr txBox="1"/>
          <p:nvPr/>
        </p:nvSpPr>
        <p:spPr>
          <a:xfrm>
            <a:off x="4515842" y="4982344"/>
            <a:ext cx="71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25" name="Google Shape;125;g3f9df1562e5_0_7"/>
          <p:cNvSpPr txBox="1"/>
          <p:nvPr/>
        </p:nvSpPr>
        <p:spPr>
          <a:xfrm>
            <a:off x="4506692" y="5734151"/>
            <a:ext cx="71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▹</a:t>
            </a:r>
            <a:endParaRPr/>
          </a:p>
        </p:txBody>
      </p:sp>
      <p:sp>
        <p:nvSpPr>
          <p:cNvPr id="126" name="Google Shape;126;g3f9df1562e5_0_7"/>
          <p:cNvSpPr txBox="1"/>
          <p:nvPr/>
        </p:nvSpPr>
        <p:spPr>
          <a:xfrm>
            <a:off x="666750" y="476250"/>
            <a:ext cx="114015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450">
                <a:solidFill>
                  <a:srgbClr val="64FFDA"/>
                </a:solidFill>
                <a:latin typeface="Outfit"/>
                <a:ea typeface="Outfit"/>
                <a:cs typeface="Outfit"/>
                <a:sym typeface="Outfit"/>
              </a:rPr>
              <a:t>Objetivos</a:t>
            </a:r>
            <a:endParaRPr/>
          </a:p>
        </p:txBody>
      </p:sp>
      <p:sp>
        <p:nvSpPr>
          <p:cNvPr id="127" name="Google Shape;127;g3f9df1562e5_0_7"/>
          <p:cNvSpPr/>
          <p:nvPr/>
        </p:nvSpPr>
        <p:spPr>
          <a:xfrm>
            <a:off x="666750" y="1123950"/>
            <a:ext cx="108585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8" name="Google Shape;128;g3f9df1562e5_0_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65500" y="0"/>
            <a:ext cx="3726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f9df1562e5_0_7"/>
          <p:cNvSpPr txBox="1"/>
          <p:nvPr/>
        </p:nvSpPr>
        <p:spPr>
          <a:xfrm>
            <a:off x="571500" y="1314450"/>
            <a:ext cx="5550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E6F1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Objetivo General</a:t>
            </a:r>
            <a:endParaRPr/>
          </a:p>
        </p:txBody>
      </p:sp>
      <p:sp>
        <p:nvSpPr>
          <p:cNvPr id="130" name="Google Shape;130;g3f9df1562e5_0_7"/>
          <p:cNvSpPr txBox="1"/>
          <p:nvPr/>
        </p:nvSpPr>
        <p:spPr>
          <a:xfrm>
            <a:off x="571500" y="3417388"/>
            <a:ext cx="5550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E6F1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Objetivos Específicos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/>
          <p:nvPr/>
        </p:nvSpPr>
        <p:spPr>
          <a:xfrm>
            <a:off x="571500" y="4073852"/>
            <a:ext cx="11013000" cy="51600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521780" y="4429125"/>
            <a:ext cx="2088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Fase 1: Definición y Análisis</a:t>
            </a:r>
            <a:endParaRPr>
              <a:solidFill>
                <a:srgbClr val="64FFDA"/>
              </a:solidFill>
            </a:endParaRPr>
          </a:p>
        </p:txBody>
      </p:sp>
      <p:sp>
        <p:nvSpPr>
          <p:cNvPr id="137" name="Google Shape;137;p6"/>
          <p:cNvSpPr txBox="1"/>
          <p:nvPr/>
        </p:nvSpPr>
        <p:spPr>
          <a:xfrm>
            <a:off x="571525" y="5063200"/>
            <a:ext cx="1988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Requerimientos + </a:t>
            </a:r>
            <a:r>
              <a:rPr lang="en-US" sz="150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análisis GRC</a:t>
            </a:r>
            <a:endParaRPr/>
          </a:p>
        </p:txBody>
      </p:sp>
      <p:sp>
        <p:nvSpPr>
          <p:cNvPr id="138" name="Google Shape;138;p6"/>
          <p:cNvSpPr txBox="1"/>
          <p:nvPr/>
        </p:nvSpPr>
        <p:spPr>
          <a:xfrm>
            <a:off x="5218333" y="2338388"/>
            <a:ext cx="2088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64FFDA"/>
                </a:solidFill>
                <a:latin typeface="Space Grotesk"/>
                <a:ea typeface="Space Grotesk"/>
                <a:cs typeface="Space Grotesk"/>
                <a:sym typeface="Space Grotesk"/>
              </a:rPr>
              <a:t>Fase 2: Diseño  y Desarrollo</a:t>
            </a:r>
            <a:endParaRPr sz="1650">
              <a:solidFill>
                <a:srgbClr val="64FFDA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5268103" y="2929063"/>
            <a:ext cx="1988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UI + Modelo de datos + 4 </a:t>
            </a:r>
            <a:r>
              <a:rPr lang="en-US" sz="150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sprints</a:t>
            </a:r>
            <a:endParaRPr/>
          </a:p>
        </p:txBody>
      </p:sp>
      <p:sp>
        <p:nvSpPr>
          <p:cNvPr id="140" name="Google Shape;140;p6"/>
          <p:cNvSpPr txBox="1"/>
          <p:nvPr/>
        </p:nvSpPr>
        <p:spPr>
          <a:xfrm>
            <a:off x="9538810" y="4353425"/>
            <a:ext cx="2088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64FFDA"/>
                </a:solidFill>
                <a:latin typeface="Outfit Medium"/>
                <a:ea typeface="Outfit Medium"/>
                <a:cs typeface="Outfit Medium"/>
                <a:sym typeface="Outfit Medium"/>
              </a:rPr>
              <a:t>3. </a:t>
            </a:r>
            <a:r>
              <a:rPr lang="en-US" sz="1650">
                <a:solidFill>
                  <a:srgbClr val="64FFDA"/>
                </a:solidFill>
                <a:latin typeface="Outfit Medium"/>
                <a:ea typeface="Outfit Medium"/>
                <a:cs typeface="Outfit Medium"/>
                <a:sym typeface="Outfit Medium"/>
              </a:rPr>
              <a:t>Validación y Cierre</a:t>
            </a:r>
            <a:endParaRPr/>
          </a:p>
        </p:txBody>
      </p:sp>
      <p:sp>
        <p:nvSpPr>
          <p:cNvPr id="141" name="Google Shape;141;p6"/>
          <p:cNvSpPr txBox="1"/>
          <p:nvPr/>
        </p:nvSpPr>
        <p:spPr>
          <a:xfrm>
            <a:off x="9588530" y="4715375"/>
            <a:ext cx="1988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QA + </a:t>
            </a:r>
            <a:r>
              <a:rPr lang="en-US" sz="150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pruebas</a:t>
            </a:r>
            <a:r>
              <a:rPr lang="en-US" sz="150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 + ajustes finales</a:t>
            </a:r>
            <a:endParaRPr/>
          </a:p>
        </p:txBody>
      </p:sp>
      <p:sp>
        <p:nvSpPr>
          <p:cNvPr id="142" name="Google Shape;142;p6"/>
          <p:cNvSpPr txBox="1"/>
          <p:nvPr/>
        </p:nvSpPr>
        <p:spPr>
          <a:xfrm>
            <a:off x="571500" y="571500"/>
            <a:ext cx="116016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64FFDA"/>
                </a:solidFill>
                <a:latin typeface="Outfit"/>
                <a:ea typeface="Outfit"/>
                <a:cs typeface="Outfit"/>
                <a:sym typeface="Outfit"/>
              </a:rPr>
              <a:t>Metodología</a:t>
            </a:r>
            <a:endParaRPr/>
          </a:p>
        </p:txBody>
      </p:sp>
      <p:sp>
        <p:nvSpPr>
          <p:cNvPr id="143" name="Google Shape;143;p6"/>
          <p:cNvSpPr txBox="1"/>
          <p:nvPr/>
        </p:nvSpPr>
        <p:spPr>
          <a:xfrm>
            <a:off x="571500" y="1219200"/>
            <a:ext cx="7600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El trabajo individual es acompañado constantemente de retroalimentación docente.</a:t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1451595" y="39814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A192F"/>
          </a:solidFill>
          <a:ln cap="flat" cmpd="sng" w="38100">
            <a:solidFill>
              <a:srgbClr val="64FF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10468635" y="39853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A192F"/>
          </a:solidFill>
          <a:ln cap="flat" cmpd="sng" w="38100">
            <a:solidFill>
              <a:srgbClr val="64FF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6148150" y="398145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A192F"/>
          </a:solidFill>
          <a:ln cap="flat" cmpd="sng" w="38100">
            <a:solidFill>
              <a:srgbClr val="64FF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/>
          <p:nvPr/>
        </p:nvSpPr>
        <p:spPr>
          <a:xfrm>
            <a:off x="571500" y="1866900"/>
            <a:ext cx="5500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286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E6F1FF"/>
                </a:solidFill>
                <a:latin typeface="Outfit Medium"/>
                <a:ea typeface="Outfit Medium"/>
                <a:cs typeface="Outfit Medium"/>
                <a:sym typeface="Outfit Medium"/>
              </a:rPr>
              <a:t>Roles de equipo</a:t>
            </a:r>
            <a:endParaRPr/>
          </a:p>
        </p:txBody>
      </p:sp>
      <p:sp>
        <p:nvSpPr>
          <p:cNvPr id="152" name="Google Shape;152;p7"/>
          <p:cNvSpPr txBox="1"/>
          <p:nvPr/>
        </p:nvSpPr>
        <p:spPr>
          <a:xfrm>
            <a:off x="571500" y="2689650"/>
            <a:ext cx="5238900" cy="19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Product Owner: Profesor (cliente)</a:t>
            </a:r>
            <a:endParaRPr b="1" sz="1700">
              <a:solidFill>
                <a:srgbClr val="8892B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Scrum Master: Justo</a:t>
            </a:r>
            <a:endParaRPr b="1" sz="1700">
              <a:solidFill>
                <a:srgbClr val="8892B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Developers: Justo · Raúl (Backend) · Celine (Frontend)</a:t>
            </a:r>
            <a:endParaRPr b="1" sz="1700">
              <a:solidFill>
                <a:srgbClr val="8892B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Apoyo técnico: Diego (dueño de la plataforma)</a:t>
            </a:r>
            <a:endParaRPr b="1" sz="1700">
              <a:solidFill>
                <a:srgbClr val="8892B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6457450" y="1943100"/>
            <a:ext cx="5500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667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E6F1FF"/>
                </a:solidFill>
                <a:latin typeface="Outfit Medium"/>
                <a:ea typeface="Outfit Medium"/>
                <a:cs typeface="Outfit Medium"/>
                <a:sym typeface="Outfit Medium"/>
              </a:rPr>
              <a:t>Entregas</a:t>
            </a:r>
            <a:endParaRPr/>
          </a:p>
        </p:txBody>
      </p:sp>
      <p:sp>
        <p:nvSpPr>
          <p:cNvPr id="154" name="Google Shape;154;p7"/>
          <p:cNvSpPr txBox="1"/>
          <p:nvPr/>
        </p:nvSpPr>
        <p:spPr>
          <a:xfrm>
            <a:off x="6457450" y="2689650"/>
            <a:ext cx="5238900" cy="1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Definición</a:t>
            </a:r>
            <a:endParaRPr b="1" sz="1800">
              <a:solidFill>
                <a:srgbClr val="8892B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Avance del desarrollo</a:t>
            </a:r>
            <a:endParaRPr b="1" sz="1800">
              <a:solidFill>
                <a:srgbClr val="8892B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Entrega final y presentación</a:t>
            </a:r>
            <a:endParaRPr b="1" sz="1800">
              <a:solidFill>
                <a:srgbClr val="8892B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64FFDA"/>
                </a:solidFill>
                <a:latin typeface="Outfit"/>
                <a:ea typeface="Outfit"/>
                <a:cs typeface="Outfit"/>
                <a:sym typeface="Outfit"/>
              </a:rPr>
              <a:t>Plan de Trabajo</a:t>
            </a:r>
            <a:endParaRPr/>
          </a:p>
        </p:txBody>
      </p:sp>
      <p:pic>
        <p:nvPicPr>
          <p:cNvPr descr="image.png" id="156" name="Google Shape;15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350" y="19431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7450" y="2024063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64FFDA"/>
                </a:solidFill>
                <a:latin typeface="Outfit"/>
                <a:ea typeface="Outfit"/>
                <a:cs typeface="Outfit"/>
                <a:sym typeface="Outfit"/>
              </a:rPr>
              <a:t>Evidencias del Proyecto</a:t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666750" y="2733675"/>
            <a:ext cx="10858500" cy="2438400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5" name="Google Shape;165;p8"/>
          <p:cNvGraphicFramePr/>
          <p:nvPr/>
        </p:nvGraphicFramePr>
        <p:xfrm>
          <a:off x="666750" y="27336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{5D9181B6-D084-4A61-835A-112BEA27A2F9}</a:tableStyleId>
              </a:tblPr>
              <a:tblGrid>
                <a:gridCol w="1224250"/>
                <a:gridCol w="3402800"/>
                <a:gridCol w="6221900"/>
              </a:tblGrid>
              <a:tr h="48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Etapa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4FF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Entregable / Evidencia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4FF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Justificación Técnica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4FFDA"/>
                    </a:solidFill>
                  </a:tcPr>
                </a:tc>
              </a:tr>
              <a:tr h="48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Avance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Modelo de datos (ER) y UI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Diseño previo a programación de las nuevas tablas y vistas.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Avance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Repositorio (GitHub) y Tablero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Control de versiones e hitos metodológicos (Scrum).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Final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Plataforma Funcional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Módulos de Ley 21.719 operando dentro de GRC.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7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Final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Informe QA y Final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Validación de funcionamiento y cierre documental.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6" name="Google Shape;166;p8"/>
          <p:cNvSpPr/>
          <p:nvPr/>
        </p:nvSpPr>
        <p:spPr>
          <a:xfrm>
            <a:off x="671512" y="3214687"/>
            <a:ext cx="12243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895772" y="3214687"/>
            <a:ext cx="34029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5298578" y="3214687"/>
            <a:ext cx="6222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671512" y="3700462"/>
            <a:ext cx="12243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895772" y="3700462"/>
            <a:ext cx="34029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5298578" y="3700462"/>
            <a:ext cx="6222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671512" y="4186237"/>
            <a:ext cx="12243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1895772" y="4186237"/>
            <a:ext cx="34029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5298578" y="4186237"/>
            <a:ext cx="6222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671512" y="4672012"/>
            <a:ext cx="12243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1895772" y="4672012"/>
            <a:ext cx="34029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5298578" y="4672012"/>
            <a:ext cx="6222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671512" y="5157787"/>
            <a:ext cx="12243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1895772" y="5157787"/>
            <a:ext cx="34029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5298578" y="5157787"/>
            <a:ext cx="6222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64FFDA"/>
                </a:solidFill>
                <a:latin typeface="Outfit"/>
                <a:ea typeface="Outfit"/>
                <a:cs typeface="Outfit"/>
                <a:sym typeface="Outfit"/>
              </a:rPr>
              <a:t>Carta Gantt y Fases</a:t>
            </a:r>
            <a:endParaRPr/>
          </a:p>
        </p:txBody>
      </p:sp>
      <p:pic>
        <p:nvPicPr>
          <p:cNvPr id="186" name="Google Shape;186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050" y="1240100"/>
            <a:ext cx="10981891" cy="542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9df1562e5_0_107"/>
          <p:cNvSpPr txBox="1"/>
          <p:nvPr/>
        </p:nvSpPr>
        <p:spPr>
          <a:xfrm>
            <a:off x="571500" y="571500"/>
            <a:ext cx="116016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64FFDA"/>
                </a:solidFill>
                <a:latin typeface="Outfit"/>
                <a:ea typeface="Outfit"/>
                <a:cs typeface="Outfit"/>
                <a:sym typeface="Outfit"/>
              </a:rPr>
              <a:t>Carta Gantt y Fases</a:t>
            </a:r>
            <a:endParaRPr/>
          </a:p>
        </p:txBody>
      </p:sp>
      <p:pic>
        <p:nvPicPr>
          <p:cNvPr id="192" name="Google Shape;192;g3f9df1562e5_0_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163" y="1278125"/>
            <a:ext cx="10679677" cy="545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829400"/>
            <a:ext cx="3429000" cy="213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829400"/>
            <a:ext cx="3429000" cy="213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00675" y="2829400"/>
            <a:ext cx="3429000" cy="2132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1"/>
          <p:cNvSpPr txBox="1"/>
          <p:nvPr/>
        </p:nvSpPr>
        <p:spPr>
          <a:xfrm>
            <a:off x="962025" y="3924775"/>
            <a:ext cx="1740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E6F1FF"/>
                </a:solidFill>
                <a:latin typeface="Outfit Medium"/>
                <a:ea typeface="Outfit Medium"/>
                <a:cs typeface="Outfit Medium"/>
                <a:sym typeface="Outfit Medium"/>
              </a:rPr>
              <a:t>Aprendizajes</a:t>
            </a:r>
            <a:endParaRPr/>
          </a:p>
        </p:txBody>
      </p:sp>
      <p:sp>
        <p:nvSpPr>
          <p:cNvPr id="201" name="Google Shape;201;p11"/>
          <p:cNvSpPr txBox="1"/>
          <p:nvPr/>
        </p:nvSpPr>
        <p:spPr>
          <a:xfrm>
            <a:off x="4906850" y="3829050"/>
            <a:ext cx="108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E6F1FF"/>
                </a:solidFill>
                <a:latin typeface="Outfit Medium"/>
                <a:ea typeface="Outfit Medium"/>
                <a:cs typeface="Outfit Medium"/>
                <a:sym typeface="Outfit Medium"/>
              </a:rPr>
              <a:t>Aportes</a:t>
            </a:r>
            <a:endParaRPr/>
          </a:p>
        </p:txBody>
      </p:sp>
      <p:sp>
        <p:nvSpPr>
          <p:cNvPr id="202" name="Google Shape;202;p11"/>
          <p:cNvSpPr txBox="1"/>
          <p:nvPr/>
        </p:nvSpPr>
        <p:spPr>
          <a:xfrm>
            <a:off x="8491200" y="3924775"/>
            <a:ext cx="1490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E6F1FF"/>
                </a:solidFill>
                <a:latin typeface="Outfit Medium"/>
                <a:ea typeface="Outfit Medium"/>
                <a:cs typeface="Outfit Medium"/>
                <a:sym typeface="Outfit Medium"/>
              </a:rPr>
              <a:t>Proyección</a:t>
            </a:r>
            <a:endParaRPr/>
          </a:p>
        </p:txBody>
      </p:sp>
      <p:pic>
        <p:nvPicPr>
          <p:cNvPr descr="image.png" id="203" name="Google Shape;20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325802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06850" y="31623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91200" y="325802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1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64FFDA"/>
                </a:solidFill>
                <a:latin typeface="Outfit"/>
                <a:ea typeface="Outfit"/>
                <a:cs typeface="Outfit"/>
                <a:sym typeface="Outfit"/>
              </a:rPr>
              <a:t>Conclusiones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g3f9dcd7134b_0_3" title="qrcode_394315228_976719ba5c1056927c0f79f76a4ba2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0650" y="1484325"/>
            <a:ext cx="5291925" cy="486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