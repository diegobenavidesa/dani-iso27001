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embeddedFontLst>
    <p:embeddedFont>
      <p:font typeface="Play"/>
      <p:regular r:id="rId16"/>
      <p:bold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2yKwS4cSQxMEU0EcHg2sHlqBE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D54080-BBB7-4914-BA44-3E0885C94DCE}">
  <a:tblStyle styleId="{90D54080-BBB7-4914-BA44-3E0885C94DC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la parte técnica mostrando que el proyecto todavía tiene trabajo pendiente, pero que ya existe una base funcional y una ruta clara para continuar.</a:t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IA_MASTER">
  <p:cSld name="NORMIA_MASTER">
    <p:bg>
      <p:bgPr>
        <a:solidFill>
          <a:srgbClr val="F7FA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9DEB"/>
          </a:solidFill>
          <a:ln cap="flat" cmpd="sng" w="12700">
            <a:solidFill>
              <a:srgbClr val="2A9D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4"/>
          <p:cNvSpPr/>
          <p:nvPr/>
        </p:nvSpPr>
        <p:spPr>
          <a:xfrm>
            <a:off x="594360" y="656539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90A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NormIA · Proyecto APT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4"/>
          <p:cNvSpPr/>
          <p:nvPr/>
        </p:nvSpPr>
        <p:spPr>
          <a:xfrm>
            <a:off x="9966960" y="6565392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890A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Avance Fase 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dani-iso-27001-ebon.vercel.ap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7818120" y="91440"/>
            <a:ext cx="4370832" cy="6400800"/>
          </a:xfrm>
          <a:prstGeom prst="rect">
            <a:avLst/>
          </a:prstGeom>
          <a:solidFill>
            <a:srgbClr val="153A59"/>
          </a:solidFill>
          <a:ln cap="flat" cmpd="sng" w="12700">
            <a:solidFill>
              <a:srgbClr val="153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458200" y="28803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NormIA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56448" y="3493008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ECF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D9ECF2"/>
                </a:solidFill>
                <a:latin typeface="Arial"/>
                <a:ea typeface="Arial"/>
                <a:cs typeface="Arial"/>
                <a:sym typeface="Arial"/>
              </a:rPr>
              <a:t>Gobernanza · Riesgo · Cumplimiento · IA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13232" y="8412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AVANCE FASE 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13232" y="1234440"/>
            <a:ext cx="61264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Proyecto APT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NormIA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13232" y="2834640"/>
            <a:ext cx="6263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Plataforma GRC para apoyar la gestión de ISO/IEC 27001 y la Ley N.º 21.719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13232" y="3822192"/>
            <a:ext cx="2148840" cy="310896"/>
          </a:xfrm>
          <a:prstGeom prst="roundRect">
            <a:avLst>
              <a:gd fmla="val 29412" name="adj"/>
            </a:avLst>
          </a:prstGeom>
          <a:solidFill>
            <a:srgbClr val="EAF5FD"/>
          </a:solidFill>
          <a:ln cap="flat" cmpd="sng" w="12700">
            <a:solidFill>
              <a:srgbClr val="EA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77240" y="3886200"/>
            <a:ext cx="202082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A9DEB"/>
                </a:solidFill>
                <a:latin typeface="Arial"/>
                <a:ea typeface="Arial"/>
                <a:cs typeface="Arial"/>
                <a:sym typeface="Arial"/>
              </a:rPr>
              <a:t>Ingeniería en Informática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980944" y="3822192"/>
            <a:ext cx="1600200" cy="310896"/>
          </a:xfrm>
          <a:prstGeom prst="roundRect">
            <a:avLst>
              <a:gd fmla="val 29412" name="adj"/>
            </a:avLst>
          </a:prstGeom>
          <a:solidFill>
            <a:srgbClr val="EAF9F6"/>
          </a:solidFill>
          <a:ln cap="flat" cmpd="sng" w="12700">
            <a:solidFill>
              <a:srgbClr val="EAF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044952" y="3886200"/>
            <a:ext cx="147218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Proyecto de Título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p1"/>
          <p:cNvCxnSpPr/>
          <p:nvPr/>
        </p:nvCxnSpPr>
        <p:spPr>
          <a:xfrm>
            <a:off x="713232" y="4663440"/>
            <a:ext cx="6080760" cy="0"/>
          </a:xfrm>
          <a:prstGeom prst="straightConnector1">
            <a:avLst/>
          </a:prstGeom>
          <a:noFill/>
          <a:ln cap="flat" cmpd="sng" w="15225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"/>
          <p:cNvSpPr/>
          <p:nvPr/>
        </p:nvSpPr>
        <p:spPr>
          <a:xfrm>
            <a:off x="713232" y="490118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13232" y="5193792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Celine Alcaíno · </a:t>
            </a:r>
            <a:r>
              <a:rPr b="1" lang="en-US" sz="1450">
                <a:solidFill>
                  <a:srgbClr val="153A59"/>
                </a:solidFill>
              </a:rPr>
              <a:t>Justo Cano</a:t>
            </a:r>
            <a:r>
              <a:rPr b="1" i="0" lang="en-US" sz="14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en-US" sz="1450">
                <a:solidFill>
                  <a:srgbClr val="153A59"/>
                </a:solidFill>
              </a:rPr>
              <a:t>Raul Barrera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13232" y="5715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Presentación de avance</a:t>
            </a:r>
            <a:r>
              <a:rPr lang="en-US" sz="1150">
                <a:solidFill>
                  <a:srgbClr val="647C90"/>
                </a:solidFill>
              </a:rPr>
              <a:t> </a:t>
            </a:r>
            <a:r>
              <a:rPr b="0" i="0" lang="en-US" sz="11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· 2026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1" title="LogoNorm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0875" y="841250"/>
            <a:ext cx="1600201" cy="160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A999"/>
                </a:solidFill>
              </a:rPr>
              <a:t>EVOLUCIÓN</a:t>
            </a:r>
            <a:r>
              <a:rPr b="1" lang="en-US" sz="1000">
                <a:solidFill>
                  <a:srgbClr val="17A999"/>
                </a:solidFill>
              </a:rPr>
              <a:t> DEL PROYECTO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De plataforma GRC a NormIA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El proyecto nace para simplificar y centralizar procesos de cumplimiento que suelen estar dispersos.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75" y="2011675"/>
            <a:ext cx="3383400" cy="21324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153A59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59536" y="2212848"/>
            <a:ext cx="530352" cy="530352"/>
          </a:xfrm>
          <a:prstGeom prst="roundRect">
            <a:avLst>
              <a:gd fmla="val 13793" name="adj"/>
            </a:avLst>
          </a:prstGeom>
          <a:solidFill>
            <a:srgbClr val="EAF5FD"/>
          </a:solidFill>
          <a:ln cap="flat" cmpd="sng" w="12700">
            <a:solidFill>
              <a:srgbClr val="EA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59536" y="228600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E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9DE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59536" y="3114680"/>
            <a:ext cx="298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53A59"/>
                </a:solidFill>
              </a:rPr>
              <a:t>Plataforma base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07400" y="2011675"/>
            <a:ext cx="3383400" cy="21324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blurRad="241935000" rotWithShape="0" algn="bl" dist="129032000">
              <a:srgbClr val="153A59">
                <a:alpha val="7529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608576" y="2212848"/>
            <a:ext cx="530352" cy="530352"/>
          </a:xfrm>
          <a:prstGeom prst="roundRect">
            <a:avLst>
              <a:gd fmla="val 13793" name="adj"/>
            </a:avLst>
          </a:prstGeom>
          <a:solidFill>
            <a:srgbClr val="EAF9F6"/>
          </a:solidFill>
          <a:ln cap="flat" cmpd="sng" w="12700">
            <a:solidFill>
              <a:srgbClr val="EAF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608576" y="228600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B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C7B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64738" y="3099792"/>
            <a:ext cx="298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53A59"/>
                </a:solidFill>
              </a:rPr>
              <a:t>Ampliación del avance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156450" y="2011675"/>
            <a:ext cx="3383400" cy="213240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blurRad="3072574500000" rotWithShape="0" algn="bl" dist="-1971107072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357616" y="2212848"/>
            <a:ext cx="530352" cy="530352"/>
          </a:xfrm>
          <a:prstGeom prst="roundRect">
            <a:avLst>
              <a:gd fmla="val 13793" name="adj"/>
            </a:avLst>
          </a:prstGeom>
          <a:solidFill>
            <a:srgbClr val="EAF5FD"/>
          </a:solidFill>
          <a:ln cap="flat" cmpd="sng" w="12700">
            <a:solidFill>
              <a:srgbClr val="EA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357616" y="2286000"/>
            <a:ext cx="530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E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9DE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469966" y="3099805"/>
            <a:ext cx="298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53A59"/>
                </a:solidFill>
              </a:rPr>
              <a:t>Nueva identidad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33856" y="4443984"/>
            <a:ext cx="9921240" cy="1325880"/>
          </a:xfrm>
          <a:prstGeom prst="roundRect">
            <a:avLst>
              <a:gd fmla="val 6897" name="adj"/>
            </a:avLst>
          </a:prstGeom>
          <a:solidFill>
            <a:srgbClr val="153A59"/>
          </a:solidFill>
          <a:ln cap="flat" cmpd="sng" w="12700">
            <a:solidFill>
              <a:srgbClr val="153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444752" y="46634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5D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DE5DA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444752" y="4992624"/>
            <a:ext cx="9006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FFFFF"/>
                </a:solidFill>
              </a:rPr>
              <a:t>NormIA centraliza ISO 27001, Ley N.º 21.719, riesgos, evidencias y seguimiento, incorporando IA como apoyo al análisis. 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41247" y="2871216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698EA"/>
                </a:solidFill>
                <a:latin typeface="Arial"/>
                <a:ea typeface="Arial"/>
                <a:cs typeface="Arial"/>
                <a:sym typeface="Arial"/>
              </a:rPr>
              <a:t>DANI / GRC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1051661" y="3543245"/>
            <a:ext cx="82200" cy="82200"/>
          </a:xfrm>
          <a:prstGeom prst="ellipse">
            <a:avLst/>
          </a:prstGeom>
          <a:solidFill>
            <a:srgbClr val="2698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051648" y="3778100"/>
            <a:ext cx="82200" cy="82200"/>
          </a:xfrm>
          <a:prstGeom prst="ellipse">
            <a:avLst/>
          </a:prstGeom>
          <a:solidFill>
            <a:srgbClr val="2698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1177502" y="3499762"/>
            <a:ext cx="251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r>
              <a:rPr lang="en-US" sz="1100">
                <a:solidFill>
                  <a:srgbClr val="657D91"/>
                </a:solidFill>
              </a:rPr>
              <a:t> </a:t>
            </a:r>
            <a:r>
              <a:rPr b="0" i="0" lang="en-US" sz="1100" u="none" cap="none" strike="noStrike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27001</a:t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1177502" y="3734611"/>
            <a:ext cx="251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57D91"/>
                </a:solidFill>
                <a:latin typeface="Arial"/>
                <a:ea typeface="Arial"/>
                <a:cs typeface="Arial"/>
                <a:sym typeface="Arial"/>
              </a:rPr>
              <a:t>Riesgos, controles y evidencias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4641813" y="2871216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C9BB"/>
                </a:solidFill>
                <a:latin typeface="Arial"/>
                <a:ea typeface="Arial"/>
                <a:cs typeface="Arial"/>
                <a:sym typeface="Arial"/>
              </a:rPr>
              <a:t>Ley N.º 21.719</a:t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4778899" y="3543245"/>
            <a:ext cx="82200" cy="82200"/>
          </a:xfrm>
          <a:prstGeom prst="ellipse">
            <a:avLst/>
          </a:prstGeom>
          <a:solidFill>
            <a:srgbClr val="35C9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5C9BB"/>
              </a:solidFill>
              <a:highlight>
                <a:srgbClr val="35C9B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4904740" y="3499762"/>
            <a:ext cx="251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57D91"/>
                </a:solidFill>
              </a:rPr>
              <a:t>Protección de datos personales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4904740" y="3734611"/>
            <a:ext cx="2514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657D91"/>
                </a:solidFill>
              </a:rPr>
              <a:t>Nuevos módulos y requerimientos</a:t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778899" y="3778095"/>
            <a:ext cx="82200" cy="82200"/>
          </a:xfrm>
          <a:prstGeom prst="ellipse">
            <a:avLst/>
          </a:prstGeom>
          <a:solidFill>
            <a:srgbClr val="35C9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5C9BB"/>
              </a:solidFill>
              <a:highlight>
                <a:srgbClr val="35C9B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8406778" y="2871216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6324F"/>
                </a:solidFill>
                <a:latin typeface="Arial"/>
                <a:ea typeface="Arial"/>
                <a:cs typeface="Arial"/>
                <a:sym typeface="Arial"/>
              </a:rPr>
              <a:t>DANI → NormIA</a:t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631999" y="3536495"/>
            <a:ext cx="82200" cy="8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5C9BB"/>
              </a:solidFill>
              <a:highlight>
                <a:srgbClr val="35C9B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8757850" y="3493004"/>
            <a:ext cx="25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657D91"/>
                </a:solidFill>
              </a:rPr>
              <a:t>Rediseño visual y mejor navegación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57D91"/>
              </a:solidFill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8757840" y="3727861"/>
            <a:ext cx="25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657D91"/>
                </a:solidFill>
              </a:rPr>
              <a:t>Identidad más clara para el producto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57D91"/>
              </a:solidFill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631999" y="3771345"/>
            <a:ext cx="82200" cy="82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5C9BB"/>
              </a:solidFill>
              <a:highlight>
                <a:srgbClr val="35C9BB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2" title="LogoNorm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4550" y="442576"/>
            <a:ext cx="1025101" cy="102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658368" y="420624"/>
            <a:ext cx="3108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 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58368" y="713232"/>
            <a:ext cx="10835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Metodología de trabajo aplicada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36813" y="2070425"/>
            <a:ext cx="1373100" cy="1373100"/>
          </a:xfrm>
          <a:prstGeom prst="ellipse">
            <a:avLst/>
          </a:prstGeom>
          <a:solidFill>
            <a:srgbClr val="2A9DEB"/>
          </a:solidFill>
          <a:ln cap="flat" cmpd="sng" w="36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5812813750000000" rotWithShape="0" algn="bl" dist="-418176676">
              <a:srgbClr val="153A59">
                <a:alpha val="0"/>
              </a:srgbClr>
            </a:outerShdw>
          </a:effectLst>
        </p:spPr>
        <p:txBody>
          <a:bodyPr anchorCtr="0" anchor="ctr" bIns="130775" lIns="130775" spcFirstLastPara="1" rIns="130775" wrap="square" tIns="1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2236813" y="2449706"/>
            <a:ext cx="13731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5"/>
              <a:buFont typeface="Arial"/>
              <a:buNone/>
            </a:pPr>
            <a:r>
              <a:rPr b="1" i="0" lang="en-US" sz="2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5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871650" y="2554335"/>
            <a:ext cx="810900" cy="418500"/>
          </a:xfrm>
          <a:prstGeom prst="chevron">
            <a:avLst>
              <a:gd fmla="val 50000" name="adj"/>
            </a:avLst>
          </a:prstGeom>
          <a:solidFill>
            <a:srgbClr val="C7D8E3"/>
          </a:solidFill>
          <a:ln cap="flat" cmpd="sng" w="18175">
            <a:solidFill>
              <a:srgbClr val="C7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775" lIns="130775" spcFirstLastPara="1" rIns="130775" wrap="square" tIns="1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106026" y="3770651"/>
            <a:ext cx="1765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Definición y Análisis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145"/>
              <a:buFont typeface="Arial"/>
              <a:buNone/>
            </a:pPr>
            <a:r>
              <a:t/>
            </a:r>
            <a:endParaRPr b="1" sz="2145">
              <a:solidFill>
                <a:srgbClr val="153A59"/>
              </a:solidFill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818295" y="4319954"/>
            <a:ext cx="23541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71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Requerimientos + análisis GRC.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530"/>
              <a:buFont typeface="Arial"/>
              <a:buNone/>
            </a:pPr>
            <a:r>
              <a:t/>
            </a:r>
            <a:endParaRPr sz="1530">
              <a:solidFill>
                <a:srgbClr val="647C90"/>
              </a:solidFill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0329" y="2070425"/>
            <a:ext cx="1373100" cy="1373100"/>
          </a:xfrm>
          <a:prstGeom prst="ellipse">
            <a:avLst/>
          </a:prstGeom>
          <a:solidFill>
            <a:srgbClr val="2A9DEB"/>
          </a:solidFill>
          <a:ln cap="flat" cmpd="sng" w="36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130775" lIns="130775" spcFirstLastPara="1" rIns="130775" wrap="square" tIns="1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480329" y="2449706"/>
            <a:ext cx="13731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5"/>
              <a:buFont typeface="Arial"/>
              <a:buNone/>
            </a:pPr>
            <a:r>
              <a:rPr b="1" i="0" lang="en-US" sz="2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5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115166" y="2554335"/>
            <a:ext cx="810900" cy="418500"/>
          </a:xfrm>
          <a:prstGeom prst="chevron">
            <a:avLst>
              <a:gd fmla="val 50000" name="adj"/>
            </a:avLst>
          </a:prstGeom>
          <a:solidFill>
            <a:srgbClr val="C7D8E3"/>
          </a:solidFill>
          <a:ln cap="flat" cmpd="sng" w="18175">
            <a:solidFill>
              <a:srgbClr val="C7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775" lIns="130775" spcFirstLastPara="1" rIns="130775" wrap="square" tIns="1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349542" y="3770651"/>
            <a:ext cx="1765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Diseño y Desarrollo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145"/>
              <a:buFont typeface="Arial"/>
              <a:buNone/>
            </a:pPr>
            <a:r>
              <a:t/>
            </a:r>
            <a:endParaRPr b="1" sz="2145">
              <a:solidFill>
                <a:srgbClr val="153A59"/>
              </a:solidFill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061811" y="4319954"/>
            <a:ext cx="23541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71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UI + Modelo de datos + 4 sprints.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530"/>
              <a:buFont typeface="Arial"/>
              <a:buNone/>
            </a:pPr>
            <a:r>
              <a:t/>
            </a:r>
            <a:endParaRPr sz="1530">
              <a:solidFill>
                <a:srgbClr val="647C90"/>
              </a:solidFill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723845" y="2070425"/>
            <a:ext cx="1373100" cy="1373100"/>
          </a:xfrm>
          <a:prstGeom prst="ellipse">
            <a:avLst/>
          </a:prstGeom>
          <a:solidFill>
            <a:srgbClr val="34C7B8"/>
          </a:solidFill>
          <a:ln cap="flat" cmpd="sng" w="363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130775" lIns="130775" spcFirstLastPara="1" rIns="130775" wrap="square" tIns="13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723845" y="2449706"/>
            <a:ext cx="13731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75"/>
              <a:buFont typeface="Arial"/>
              <a:buNone/>
            </a:pPr>
            <a:r>
              <a:rPr b="1" i="0" lang="en-US" sz="25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8593058" y="3770651"/>
            <a:ext cx="17658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Validación y Cierre</a:t>
            </a:r>
            <a:endParaRPr b="1" sz="18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145"/>
              <a:buFont typeface="Arial"/>
              <a:buNone/>
            </a:pPr>
            <a:r>
              <a:t/>
            </a:r>
            <a:endParaRPr b="1" sz="2145">
              <a:solidFill>
                <a:srgbClr val="153A59"/>
              </a:solidFill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305327" y="4319954"/>
            <a:ext cx="2354100" cy="10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71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QA + pruebas + ajustes finales.</a:t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530"/>
              <a:buFont typeface="Arial"/>
              <a:buNone/>
            </a:pPr>
            <a:r>
              <a:t/>
            </a:r>
            <a:endParaRPr sz="1530">
              <a:solidFill>
                <a:srgbClr val="647C90"/>
              </a:solidFill>
            </a:endParaRPr>
          </a:p>
        </p:txBody>
      </p:sp>
      <p:sp>
        <p:nvSpPr>
          <p:cNvPr id="99" name="Google Shape;99;p4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 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Ajustes realizados durante la Fase 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Los cambios se realizaron a partir de dificultades técnicas, pruebas del producto y revisión del avance.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3"/>
          <p:cNvCxnSpPr/>
          <p:nvPr/>
        </p:nvCxnSpPr>
        <p:spPr>
          <a:xfrm>
            <a:off x="1005840" y="3035808"/>
            <a:ext cx="10058400" cy="0"/>
          </a:xfrm>
          <a:prstGeom prst="straightConnector1">
            <a:avLst/>
          </a:prstGeom>
          <a:noFill/>
          <a:ln cap="flat" cmpd="sng" w="254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3"/>
          <p:cNvSpPr/>
          <p:nvPr/>
        </p:nvSpPr>
        <p:spPr>
          <a:xfrm>
            <a:off x="1051560" y="2770632"/>
            <a:ext cx="512064" cy="512064"/>
          </a:xfrm>
          <a:prstGeom prst="ellipse">
            <a:avLst/>
          </a:prstGeom>
          <a:solidFill>
            <a:srgbClr val="2A9DE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051560" y="2898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50392" y="2048256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53A59"/>
                </a:solidFill>
              </a:rPr>
              <a:t>Nuevas tareas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50400" y="3511301"/>
            <a:ext cx="21489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120"/>
              <a:buFont typeface="Arial"/>
              <a:buNone/>
            </a:pPr>
            <a:r>
              <a:rPr lang="en-US" sz="1720">
                <a:solidFill>
                  <a:srgbClr val="647C90"/>
                </a:solidFill>
              </a:rPr>
              <a:t>Al comienzo de esta fase 2, se encontraron funciones que no estaban completadas.</a:t>
            </a:r>
            <a:endParaRPr b="0" i="0" sz="1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522954" y="2770620"/>
            <a:ext cx="512100" cy="512100"/>
          </a:xfrm>
          <a:prstGeom prst="ellipse">
            <a:avLst/>
          </a:prstGeom>
          <a:solidFill>
            <a:srgbClr val="2A9DE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5522954" y="2898636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000">
                <a:solidFill>
                  <a:srgbClr val="FFFFFF"/>
                </a:solidFill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884898" y="2112319"/>
            <a:ext cx="196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53A59"/>
                </a:solidFill>
              </a:rPr>
              <a:t>Mejoras </a:t>
            </a:r>
            <a:r>
              <a:rPr b="1" lang="en-US" sz="1600">
                <a:solidFill>
                  <a:srgbClr val="153A59"/>
                </a:solidFill>
              </a:rPr>
              <a:t>visuales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84898" y="3511234"/>
            <a:ext cx="21489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120"/>
              <a:buFont typeface="Arial"/>
              <a:buNone/>
            </a:pPr>
            <a:r>
              <a:rPr lang="en-US" sz="1720">
                <a:solidFill>
                  <a:srgbClr val="647C90"/>
                </a:solidFill>
              </a:rPr>
              <a:t>La interfaz actual, no </a:t>
            </a:r>
            <a:r>
              <a:rPr lang="en-US" sz="1720">
                <a:solidFill>
                  <a:srgbClr val="647C90"/>
                </a:solidFill>
              </a:rPr>
              <a:t>permite</a:t>
            </a:r>
            <a:r>
              <a:rPr lang="en-US" sz="1720">
                <a:solidFill>
                  <a:srgbClr val="647C90"/>
                </a:solidFill>
              </a:rPr>
              <a:t> </a:t>
            </a:r>
            <a:r>
              <a:rPr lang="en-US" sz="1720">
                <a:solidFill>
                  <a:srgbClr val="647C90"/>
                </a:solidFill>
              </a:rPr>
              <a:t>entender</a:t>
            </a:r>
            <a:r>
              <a:rPr lang="en-US" sz="1720">
                <a:solidFill>
                  <a:srgbClr val="647C90"/>
                </a:solidFill>
              </a:rPr>
              <a:t> el proceso real que debe seguir el usuario.</a:t>
            </a:r>
            <a:endParaRPr b="0" i="0" sz="1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541744" y="2734082"/>
            <a:ext cx="512100" cy="512100"/>
          </a:xfrm>
          <a:prstGeom prst="ellipse">
            <a:avLst/>
          </a:prstGeom>
          <a:solidFill>
            <a:srgbClr val="34C7B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541744" y="2862098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000">
                <a:solidFill>
                  <a:srgbClr val="FFFFFF"/>
                </a:solidFill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723376" y="2048256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Plan gratuito</a:t>
            </a:r>
            <a:endParaRPr b="1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723350" y="3405327"/>
            <a:ext cx="21489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120"/>
              <a:buFont typeface="Arial"/>
              <a:buNone/>
            </a:pPr>
            <a:r>
              <a:rPr lang="en-US" sz="1720">
                <a:solidFill>
                  <a:srgbClr val="647C90"/>
                </a:solidFill>
              </a:rPr>
              <a:t>El plan gratuito hizo </a:t>
            </a:r>
            <a:r>
              <a:rPr lang="en-US" sz="1720">
                <a:solidFill>
                  <a:srgbClr val="647C90"/>
                </a:solidFill>
              </a:rPr>
              <a:t>más</a:t>
            </a:r>
            <a:r>
              <a:rPr lang="en-US" sz="1720">
                <a:solidFill>
                  <a:srgbClr val="647C90"/>
                </a:solidFill>
              </a:rPr>
              <a:t> lento la </a:t>
            </a:r>
            <a:r>
              <a:rPr lang="en-US" sz="1720">
                <a:solidFill>
                  <a:srgbClr val="647C90"/>
                </a:solidFill>
              </a:rPr>
              <a:t>revisión</a:t>
            </a:r>
            <a:r>
              <a:rPr lang="en-US" sz="1720">
                <a:solidFill>
                  <a:srgbClr val="647C90"/>
                </a:solidFill>
              </a:rPr>
              <a:t> de los errores, porque solo uno tiene acceso, retrasando la carta gantt.</a:t>
            </a:r>
            <a:endParaRPr b="0" i="0" sz="1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INDICADORES 3 Y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Arquitectura y tecnologías del proyecto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La solución separa interfaz, lógica de negocio, persistencia y servicios de apoyo.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41250" y="2834906"/>
            <a:ext cx="1051500" cy="1203000"/>
          </a:xfrm>
          <a:prstGeom prst="ellipse">
            <a:avLst/>
          </a:prstGeom>
          <a:solidFill>
            <a:srgbClr val="EAF5FD"/>
          </a:solidFill>
          <a:ln cap="flat" cmpd="sng" w="19050">
            <a:solidFill>
              <a:srgbClr val="2A9D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5"/>
          <p:cNvSpPr/>
          <p:nvPr/>
        </p:nvSpPr>
        <p:spPr>
          <a:xfrm>
            <a:off x="841250" y="3232388"/>
            <a:ext cx="10515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250"/>
              <a:buFont typeface="Arial"/>
              <a:buNone/>
            </a:pPr>
            <a:r>
              <a:rPr b="1" i="0" lang="en-US" sz="16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2331720" y="2542025"/>
            <a:ext cx="1965900" cy="17574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5"/>
          <p:cNvSpPr/>
          <p:nvPr/>
        </p:nvSpPr>
        <p:spPr>
          <a:xfrm>
            <a:off x="2990088" y="2751226"/>
            <a:ext cx="640200" cy="732000"/>
          </a:xfrm>
          <a:prstGeom prst="ellipse">
            <a:avLst/>
          </a:prstGeom>
          <a:solidFill>
            <a:srgbClr val="EAF5FD"/>
          </a:solidFill>
          <a:ln cap="flat" cmpd="sng" w="12700">
            <a:solidFill>
              <a:srgbClr val="EA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" name="Google Shape;134;p5"/>
          <p:cNvSpPr/>
          <p:nvPr/>
        </p:nvSpPr>
        <p:spPr>
          <a:xfrm>
            <a:off x="2990088" y="2939507"/>
            <a:ext cx="64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EB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A9D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496312" y="3629870"/>
            <a:ext cx="1636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450"/>
              <a:buFont typeface="Arial"/>
              <a:buNone/>
            </a:pPr>
            <a:r>
              <a:rPr b="1" i="0" lang="en-US" sz="18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2496312" y="3975052"/>
            <a:ext cx="1636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617718" y="2542025"/>
            <a:ext cx="1965900" cy="17574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" name="Google Shape;138;p5"/>
          <p:cNvSpPr/>
          <p:nvPr/>
        </p:nvSpPr>
        <p:spPr>
          <a:xfrm>
            <a:off x="5276086" y="2751226"/>
            <a:ext cx="640200" cy="732000"/>
          </a:xfrm>
          <a:prstGeom prst="ellipse">
            <a:avLst/>
          </a:prstGeom>
          <a:solidFill>
            <a:srgbClr val="EAF9F6"/>
          </a:solidFill>
          <a:ln cap="flat" cmpd="sng" w="12700">
            <a:solidFill>
              <a:srgbClr val="EAF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5"/>
          <p:cNvSpPr/>
          <p:nvPr/>
        </p:nvSpPr>
        <p:spPr>
          <a:xfrm>
            <a:off x="5276086" y="2939507"/>
            <a:ext cx="64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B8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34C7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782310" y="3629870"/>
            <a:ext cx="1636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450"/>
              <a:buFont typeface="Arial"/>
              <a:buNone/>
            </a:pPr>
            <a:r>
              <a:rPr b="1" i="0" lang="en-US" sz="18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API / Backend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782310" y="3975052"/>
            <a:ext cx="1636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050"/>
              <a:buFont typeface="Arial"/>
              <a:buNone/>
            </a:pPr>
            <a:r>
              <a:rPr lang="en-US" sz="1450">
                <a:solidFill>
                  <a:srgbClr val="647C90"/>
                </a:solidFill>
              </a:rPr>
              <a:t>API </a:t>
            </a:r>
            <a:r>
              <a:rPr lang="en-US" sz="1450">
                <a:solidFill>
                  <a:srgbClr val="647C90"/>
                </a:solidFill>
              </a:rPr>
              <a:t>REST + </a:t>
            </a:r>
            <a:r>
              <a:rPr lang="en-US" sz="1450">
                <a:solidFill>
                  <a:srgbClr val="647C90"/>
                </a:solidFill>
              </a:rPr>
              <a:t> </a:t>
            </a:r>
            <a:r>
              <a:rPr b="0" i="0" lang="en-US" sz="14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Python + </a:t>
            </a:r>
            <a:r>
              <a:rPr lang="en-US" sz="1450">
                <a:solidFill>
                  <a:srgbClr val="647C90"/>
                </a:solidFill>
              </a:rPr>
              <a:t>JS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150604" y="2542025"/>
            <a:ext cx="1965900" cy="17574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5"/>
          <p:cNvSpPr/>
          <p:nvPr/>
        </p:nvSpPr>
        <p:spPr>
          <a:xfrm>
            <a:off x="7808971" y="2751226"/>
            <a:ext cx="640200" cy="732000"/>
          </a:xfrm>
          <a:prstGeom prst="ellipse">
            <a:avLst/>
          </a:prstGeom>
          <a:solidFill>
            <a:srgbClr val="EAF5FD"/>
          </a:solidFill>
          <a:ln cap="flat" cmpd="sng" w="12700">
            <a:solidFill>
              <a:srgbClr val="EAF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" name="Google Shape;144;p5"/>
          <p:cNvSpPr/>
          <p:nvPr/>
        </p:nvSpPr>
        <p:spPr>
          <a:xfrm>
            <a:off x="7808971" y="2939507"/>
            <a:ext cx="64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EB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2A9D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315195" y="3629870"/>
            <a:ext cx="1636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450"/>
              <a:buFont typeface="Arial"/>
              <a:buNone/>
            </a:pPr>
            <a:r>
              <a:rPr b="1" i="0" lang="en-US" sz="185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315195" y="3975052"/>
            <a:ext cx="1636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PostgreSQL + </a:t>
            </a:r>
            <a:r>
              <a:rPr lang="en-US" sz="1450">
                <a:solidFill>
                  <a:srgbClr val="647C90"/>
                </a:solidFill>
              </a:rPr>
              <a:t>Docker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400025" y="2542025"/>
            <a:ext cx="1965900" cy="17574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8" name="Google Shape;148;p5"/>
          <p:cNvSpPr/>
          <p:nvPr/>
        </p:nvSpPr>
        <p:spPr>
          <a:xfrm>
            <a:off x="10058393" y="2751226"/>
            <a:ext cx="640200" cy="732000"/>
          </a:xfrm>
          <a:prstGeom prst="ellipse">
            <a:avLst/>
          </a:prstGeom>
          <a:solidFill>
            <a:srgbClr val="EAF9F6"/>
          </a:solidFill>
          <a:ln cap="flat" cmpd="sng" w="12700">
            <a:solidFill>
              <a:srgbClr val="EAF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9" name="Google Shape;149;p5"/>
          <p:cNvSpPr/>
          <p:nvPr/>
        </p:nvSpPr>
        <p:spPr>
          <a:xfrm>
            <a:off x="10058393" y="2939507"/>
            <a:ext cx="6402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C7B8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34C7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564617" y="3629870"/>
            <a:ext cx="1636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450"/>
              <a:buFont typeface="Arial"/>
              <a:buNone/>
            </a:pPr>
            <a:r>
              <a:rPr b="1" lang="en-US" sz="1850">
                <a:solidFill>
                  <a:srgbClr val="153A59"/>
                </a:solidFill>
              </a:rPr>
              <a:t>IA + Servicios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564617" y="3975052"/>
            <a:ext cx="16368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Redis + Groq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901953" y="3169628"/>
            <a:ext cx="329100" cy="376500"/>
          </a:xfrm>
          <a:prstGeom prst="chevron">
            <a:avLst>
              <a:gd fmla="val 50000" name="adj"/>
            </a:avLst>
          </a:prstGeom>
          <a:solidFill>
            <a:srgbClr val="BFD2DE"/>
          </a:solidFill>
          <a:ln cap="flat" cmpd="sng" w="12700">
            <a:solidFill>
              <a:srgbClr val="BF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5"/>
          <p:cNvSpPr/>
          <p:nvPr/>
        </p:nvSpPr>
        <p:spPr>
          <a:xfrm>
            <a:off x="4315966" y="3169628"/>
            <a:ext cx="329100" cy="376500"/>
          </a:xfrm>
          <a:prstGeom prst="chevron">
            <a:avLst>
              <a:gd fmla="val 50000" name="adj"/>
            </a:avLst>
          </a:prstGeom>
          <a:solidFill>
            <a:srgbClr val="BFD2DE"/>
          </a:solidFill>
          <a:ln cap="flat" cmpd="sng" w="12700">
            <a:solidFill>
              <a:srgbClr val="BF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5"/>
          <p:cNvSpPr/>
          <p:nvPr/>
        </p:nvSpPr>
        <p:spPr>
          <a:xfrm>
            <a:off x="6784844" y="3169628"/>
            <a:ext cx="329100" cy="376500"/>
          </a:xfrm>
          <a:prstGeom prst="chevron">
            <a:avLst>
              <a:gd fmla="val 50000" name="adj"/>
            </a:avLst>
          </a:prstGeom>
          <a:solidFill>
            <a:srgbClr val="BFD2DE"/>
          </a:solidFill>
          <a:ln cap="flat" cmpd="sng" w="12700">
            <a:solidFill>
              <a:srgbClr val="BF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5"/>
          <p:cNvSpPr/>
          <p:nvPr/>
        </p:nvSpPr>
        <p:spPr>
          <a:xfrm>
            <a:off x="9125706" y="3169628"/>
            <a:ext cx="329100" cy="376500"/>
          </a:xfrm>
          <a:prstGeom prst="chevron">
            <a:avLst>
              <a:gd fmla="val 50000" name="adj"/>
            </a:avLst>
          </a:prstGeom>
          <a:solidFill>
            <a:srgbClr val="BFD2DE"/>
          </a:solidFill>
          <a:ln cap="flat" cmpd="sng" w="12700">
            <a:solidFill>
              <a:srgbClr val="BF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5"/>
          <p:cNvSpPr/>
          <p:nvPr/>
        </p:nvSpPr>
        <p:spPr>
          <a:xfrm>
            <a:off x="1011890" y="4745717"/>
            <a:ext cx="10168200" cy="960000"/>
          </a:xfrm>
          <a:prstGeom prst="roundRect">
            <a:avLst>
              <a:gd fmla="val 7619" name="adj"/>
            </a:avLst>
          </a:prstGeom>
          <a:solidFill>
            <a:srgbClr val="153A59"/>
          </a:solidFill>
          <a:ln cap="flat" cmpd="sng" w="12700">
            <a:solidFill>
              <a:srgbClr val="153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243575" y="4992625"/>
            <a:ext cx="29832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5DA"/>
              </a:buClr>
              <a:buSzPts val="1150"/>
              <a:buFont typeface="Arial"/>
              <a:buNone/>
            </a:pPr>
            <a:r>
              <a:rPr i="0" lang="en-US" sz="1850" u="none" cap="none" strike="noStrike">
                <a:solidFill>
                  <a:srgbClr val="8DE5DA"/>
                </a:solidFill>
              </a:rPr>
              <a:t>Infraestructura </a:t>
            </a:r>
            <a:r>
              <a:rPr lang="en-US" sz="1850">
                <a:solidFill>
                  <a:srgbClr val="8DE5DA"/>
                </a:solidFill>
              </a:rPr>
              <a:t>del ambiente de </a:t>
            </a:r>
            <a:r>
              <a:rPr lang="en-US" sz="1850">
                <a:solidFill>
                  <a:srgbClr val="8DE5DA"/>
                </a:solidFill>
              </a:rPr>
              <a:t>producción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914988" y="5070325"/>
            <a:ext cx="5310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800">
                <a:solidFill>
                  <a:srgbClr val="FFFFFF"/>
                </a:solidFill>
              </a:rPr>
              <a:t>Neon - Vercel - Render - Groq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 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Evidencia de avance: Front-End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La Fase 2 incorporó una landing más completa, coherente con la identidad NormIA y con navegación por secciones.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58368" y="1993392"/>
            <a:ext cx="7589520" cy="3977640"/>
          </a:xfrm>
          <a:prstGeom prst="roundRect">
            <a:avLst>
              <a:gd fmla="val 1839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normia_hero_crop.png" id="169" name="Google Shape;169;p6"/>
          <p:cNvPicPr preferRelativeResize="0"/>
          <p:nvPr/>
        </p:nvPicPr>
        <p:blipFill rotWithShape="1">
          <a:blip r:embed="rId3">
            <a:alphaModFix/>
          </a:blip>
          <a:srcRect b="0" l="1339" r="1339" t="0"/>
          <a:stretch/>
        </p:blipFill>
        <p:spPr>
          <a:xfrm>
            <a:off x="822960" y="2176272"/>
            <a:ext cx="726948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8549640" y="1993392"/>
            <a:ext cx="2971800" cy="3977640"/>
          </a:xfrm>
          <a:prstGeom prst="roundRect">
            <a:avLst>
              <a:gd fmla="val 2462" name="adj"/>
            </a:avLst>
          </a:prstGeom>
          <a:solidFill>
            <a:srgbClr val="153A59"/>
          </a:solidFill>
          <a:ln cap="flat" cmpd="sng" w="12700">
            <a:solidFill>
              <a:srgbClr val="153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887968" y="2331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Cambios visibles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887968" y="2953512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9107424" y="2880360"/>
            <a:ext cx="20208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Nueva identidad visual NormIA.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887968" y="3456432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107424" y="3383280"/>
            <a:ext cx="20208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Landing page con mayor contexto del producto.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887968" y="3959352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9107424" y="3886200"/>
            <a:ext cx="20208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Accesos a Inicio, Quiénes somos, Soluciones, Cómo funciona y Normativas.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887968" y="4462272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107424" y="4389120"/>
            <a:ext cx="20208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Secciones interactivas para explicar soluciones y marcos.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887968" y="4965192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9107424" y="4892040"/>
            <a:ext cx="20208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Diseño alineado con azul y turquesa del producto.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971875" y="5971025"/>
            <a:ext cx="7356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hlink"/>
                </a:solidFill>
                <a:hlinkClick r:id="rId4"/>
              </a:rPr>
              <a:t>https://dani-iso-27001-ebon.vercel.app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 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Evidencia técnica: backend, datos e IA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Además del trabajo visual, se configuró y validó la infraestructura necesaria para ejecutar funcionalidades del proyecto.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58375" y="1920255"/>
            <a:ext cx="5394900" cy="421710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355075" y="1920255"/>
            <a:ext cx="5166300" cy="421710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675120" y="22402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Evidencias de integración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675120" y="2798064"/>
            <a:ext cx="109728" cy="109728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6" name="Google Shape;196;p7"/>
          <p:cNvSpPr/>
          <p:nvPr/>
        </p:nvSpPr>
        <p:spPr>
          <a:xfrm>
            <a:off x="6894576" y="2724912"/>
            <a:ext cx="409651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150"/>
              <a:buFont typeface="Arial"/>
              <a:buNone/>
            </a:pPr>
            <a:r>
              <a:rPr b="0" i="0" lang="en-US" sz="1750" u="none" cap="none" strike="noStrike">
                <a:solidFill>
                  <a:srgbClr val="102F4A"/>
                </a:solidFill>
                <a:latin typeface="Arial"/>
                <a:ea typeface="Arial"/>
                <a:cs typeface="Arial"/>
                <a:sym typeface="Arial"/>
              </a:rPr>
              <a:t>Docker Compose: PostgreSQL/pgvector y Redis ejecutándose localmente.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665983" y="4362769"/>
            <a:ext cx="109800" cy="109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8" name="Google Shape;198;p7"/>
          <p:cNvSpPr/>
          <p:nvPr/>
        </p:nvSpPr>
        <p:spPr>
          <a:xfrm>
            <a:off x="6885438" y="4289617"/>
            <a:ext cx="409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150"/>
              <a:buFont typeface="Arial"/>
              <a:buNone/>
            </a:pPr>
            <a:r>
              <a:rPr b="0" i="0" lang="en-US" sz="1750" u="none" cap="none" strike="noStrike">
                <a:solidFill>
                  <a:srgbClr val="102F4A"/>
                </a:solidFill>
                <a:latin typeface="Arial"/>
                <a:ea typeface="Arial"/>
                <a:cs typeface="Arial"/>
                <a:sym typeface="Arial"/>
              </a:rPr>
              <a:t>Backend API REST conectado a PostgreSQL.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58050" y="2081688"/>
            <a:ext cx="5124900" cy="1120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426" y="2141725"/>
            <a:ext cx="5022150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758050" y="3276100"/>
            <a:ext cx="5270400" cy="2709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425" y="3276100"/>
            <a:ext cx="5166302" cy="265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6665983" y="3580402"/>
            <a:ext cx="109800" cy="109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5" name="Google Shape;205;p7"/>
          <p:cNvSpPr/>
          <p:nvPr/>
        </p:nvSpPr>
        <p:spPr>
          <a:xfrm>
            <a:off x="6885438" y="3507250"/>
            <a:ext cx="409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150"/>
              <a:buFont typeface="Arial"/>
              <a:buNone/>
            </a:pPr>
            <a:r>
              <a:rPr lang="en-US" sz="1750">
                <a:solidFill>
                  <a:srgbClr val="102F4A"/>
                </a:solidFill>
              </a:rPr>
              <a:t>Entorno replicable con un solo comando 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665983" y="5145144"/>
            <a:ext cx="109800" cy="109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7" name="Google Shape;207;p7"/>
          <p:cNvSpPr/>
          <p:nvPr/>
        </p:nvSpPr>
        <p:spPr>
          <a:xfrm>
            <a:off x="6885438" y="5071992"/>
            <a:ext cx="409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15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IA con RAG: embeddings en pgvector y análisis con LLM.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 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Git como evidencia y trazabilidad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58368" y="135331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C9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647C90"/>
                </a:solidFill>
                <a:latin typeface="Arial"/>
                <a:ea typeface="Arial"/>
                <a:cs typeface="Arial"/>
                <a:sym typeface="Arial"/>
              </a:rPr>
              <a:t>El repositorio permite demostrar el avance del proyecto, mantener historial y separar el trabajo por ramas.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58375" y="1975099"/>
            <a:ext cx="4709100" cy="4419600"/>
          </a:xfrm>
          <a:prstGeom prst="roundRect">
            <a:avLst>
              <a:gd fmla="val 1772" name="adj"/>
            </a:avLst>
          </a:prstGeom>
          <a:solidFill>
            <a:srgbClr val="102739"/>
          </a:solidFill>
          <a:ln cap="flat" cmpd="sng" w="12700">
            <a:solidFill>
              <a:srgbClr val="102739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669275" y="1975099"/>
            <a:ext cx="5852100" cy="4419600"/>
          </a:xfrm>
          <a:prstGeom prst="roundRect">
            <a:avLst>
              <a:gd fmla="val 1772" name="adj"/>
            </a:avLst>
          </a:prstGeom>
          <a:solidFill>
            <a:srgbClr val="FFFFFF"/>
          </a:solidFill>
          <a:ln cap="flat" cmpd="sng" w="12700">
            <a:solidFill>
              <a:srgbClr val="D9E6EE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153A59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989320" y="23042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53A59"/>
                </a:solidFill>
                <a:latin typeface="Arial"/>
                <a:ea typeface="Arial"/>
                <a:cs typeface="Arial"/>
                <a:sym typeface="Arial"/>
              </a:rPr>
              <a:t>¿Qué demuestra el repositorio?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989325" y="2918424"/>
            <a:ext cx="109800" cy="166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0" name="Google Shape;220;p8"/>
          <p:cNvSpPr/>
          <p:nvPr/>
        </p:nvSpPr>
        <p:spPr>
          <a:xfrm>
            <a:off x="6208780" y="2807200"/>
            <a:ext cx="4672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220"/>
              <a:buFont typeface="Arial"/>
              <a:buNone/>
            </a:pPr>
            <a:r>
              <a:rPr lang="en-US" sz="1700">
                <a:solidFill>
                  <a:srgbClr val="102F4A"/>
                </a:solidFill>
              </a:rPr>
              <a:t>467 commits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989325" y="3613571"/>
            <a:ext cx="109800" cy="166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2" name="Google Shape;222;p8"/>
          <p:cNvSpPr/>
          <p:nvPr/>
        </p:nvSpPr>
        <p:spPr>
          <a:xfrm>
            <a:off x="6208780" y="3502348"/>
            <a:ext cx="4672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220"/>
              <a:buFont typeface="Arial"/>
              <a:buNone/>
            </a:pPr>
            <a:r>
              <a:rPr b="0" i="0" lang="en-US" sz="1700" u="none" cap="none" strike="noStrike">
                <a:solidFill>
                  <a:srgbClr val="102F4A"/>
                </a:solidFill>
                <a:latin typeface="Arial"/>
                <a:ea typeface="Arial"/>
                <a:cs typeface="Arial"/>
                <a:sym typeface="Arial"/>
              </a:rPr>
              <a:t>Participación individual mediante ramas y commits.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989325" y="4308718"/>
            <a:ext cx="109800" cy="166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4" name="Google Shape;224;p8"/>
          <p:cNvSpPr/>
          <p:nvPr/>
        </p:nvSpPr>
        <p:spPr>
          <a:xfrm>
            <a:off x="6208780" y="4197495"/>
            <a:ext cx="4672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220"/>
              <a:buFont typeface="Arial"/>
              <a:buNone/>
            </a:pPr>
            <a:r>
              <a:rPr lang="en-US" sz="1700">
                <a:solidFill>
                  <a:srgbClr val="102F4A"/>
                </a:solidFill>
              </a:rPr>
              <a:t>Ramas por integrante y por funcionalidad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989325" y="5003866"/>
            <a:ext cx="109800" cy="166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6" name="Google Shape;226;p8"/>
          <p:cNvSpPr/>
          <p:nvPr/>
        </p:nvSpPr>
        <p:spPr>
          <a:xfrm>
            <a:off x="6208780" y="4892642"/>
            <a:ext cx="4672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220"/>
              <a:buFont typeface="Arial"/>
              <a:buNone/>
            </a:pPr>
            <a:r>
              <a:rPr lang="en-US" sz="1700">
                <a:solidFill>
                  <a:srgbClr val="102F4A"/>
                </a:solidFill>
              </a:rPr>
              <a:t>Participación de los 3 integrantes.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5989325" y="5699013"/>
            <a:ext cx="109800" cy="166800"/>
          </a:xfrm>
          <a:prstGeom prst="ellipse">
            <a:avLst/>
          </a:prstGeom>
          <a:solidFill>
            <a:srgbClr val="34C7B8"/>
          </a:solidFill>
          <a:ln cap="flat" cmpd="sng" w="12700">
            <a:solidFill>
              <a:srgbClr val="34C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8" name="Google Shape;228;p8"/>
          <p:cNvSpPr/>
          <p:nvPr/>
        </p:nvSpPr>
        <p:spPr>
          <a:xfrm>
            <a:off x="6208780" y="5587789"/>
            <a:ext cx="46725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F4A"/>
              </a:buClr>
              <a:buSzPts val="1220"/>
              <a:buFont typeface="Arial"/>
              <a:buNone/>
            </a:pPr>
            <a:r>
              <a:rPr lang="en-US" sz="1700">
                <a:solidFill>
                  <a:srgbClr val="102F4A"/>
                </a:solidFill>
              </a:rPr>
              <a:t>Revisión de cambios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713" y="2578600"/>
            <a:ext cx="3992425" cy="331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INDICADORES 7 Y 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Aportes del equipo y participación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9"/>
          <p:cNvGraphicFramePr/>
          <p:nvPr/>
        </p:nvGraphicFramePr>
        <p:xfrm>
          <a:off x="214500" y="203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{90D54080-BBB7-4914-BA44-3E0885C94DCE}</a:tableStyleId>
              </a:tblPr>
              <a:tblGrid>
                <a:gridCol w="1819275"/>
                <a:gridCol w="1914525"/>
                <a:gridCol w="2600325"/>
                <a:gridCol w="4305300"/>
              </a:tblGrid>
              <a:tr h="109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Integrante</a:t>
                      </a:r>
                      <a:endParaRPr b="1"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Rol Principal</a:t>
                      </a:r>
                      <a:endParaRPr b="1"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Evidencia Git</a:t>
                      </a:r>
                      <a:endParaRPr b="1"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Tema a Exponer</a:t>
                      </a:r>
                      <a:endParaRPr b="1"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09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Celine Alcaíno</a:t>
                      </a:r>
                      <a:endParaRPr b="1" sz="18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Front-End &amp; UX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celine_alcaino</a:t>
                      </a:r>
                      <a:endParaRPr sz="1800">
                        <a:solidFill>
                          <a:srgbClr val="4F46E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Flujo React, diseño visual e integración UI.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09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Raúl Barrera</a:t>
                      </a:r>
                      <a:endParaRPr b="1" sz="18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Back-End &amp; IA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raul_barrera</a:t>
                      </a:r>
                      <a:endParaRPr sz="1800">
                        <a:solidFill>
                          <a:srgbClr val="4F46E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RAG, endpoints, BD y automatización.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  <a:tr h="1098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Justo Cano</a:t>
                      </a:r>
                      <a:endParaRPr b="1" sz="1800">
                        <a:solidFill>
                          <a:srgbClr val="0F172A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QA &amp; Analista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F46E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rama: justo_cano</a:t>
                      </a:r>
                      <a:endParaRPr sz="1800">
                        <a:solidFill>
                          <a:srgbClr val="4F46E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Pruebas, flujos ágiles y validación normativa.</a:t>
                      </a:r>
                      <a:endParaRPr sz="1800">
                        <a:solidFill>
                          <a:srgbClr val="475569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658368" y="4206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99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A999"/>
                </a:solidFill>
                <a:latin typeface="Arial"/>
                <a:ea typeface="Arial"/>
                <a:cs typeface="Arial"/>
                <a:sym typeface="Arial"/>
              </a:rPr>
              <a:t>CONTINUIDAD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58368" y="713232"/>
            <a:ext cx="10835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A59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53A59"/>
                </a:solidFill>
                <a:latin typeface="Play"/>
                <a:ea typeface="Play"/>
                <a:cs typeface="Play"/>
                <a:sym typeface="Play"/>
              </a:rPr>
              <a:t>Próximos pasos del proyecto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>
            <p:ph idx="4294967295" type="sldNum"/>
          </p:nvPr>
        </p:nvSpPr>
        <p:spPr>
          <a:xfrm>
            <a:off x="11631168" y="6528816"/>
            <a:ext cx="2560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7890A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7890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61119" y="1962150"/>
            <a:ext cx="5120700" cy="20955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210300" y="1962150"/>
            <a:ext cx="5120700" cy="20955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61119" y="4286250"/>
            <a:ext cx="5120700" cy="20955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210300" y="4286250"/>
            <a:ext cx="5120700" cy="2095500"/>
          </a:xfrm>
          <a:prstGeom prst="roundRect">
            <a:avLst>
              <a:gd fmla="val 1090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1251644" y="2847975"/>
            <a:ext cx="569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Análisis Predictivo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1251644" y="3209925"/>
            <a:ext cx="4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Modelos IA para predecir vulnerabilidades antes de incidentes críticos.</a:t>
            </a:r>
            <a:endParaRPr/>
          </a:p>
        </p:txBody>
      </p:sp>
      <p:sp>
        <p:nvSpPr>
          <p:cNvPr id="254" name="Google Shape;254;p10"/>
          <p:cNvSpPr txBox="1"/>
          <p:nvPr/>
        </p:nvSpPr>
        <p:spPr>
          <a:xfrm>
            <a:off x="6600825" y="2847975"/>
            <a:ext cx="559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Integraciones API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6600825" y="3209925"/>
            <a:ext cx="4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Conexión directa con ERPs corporativos y sistemas gubernamentales.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1251644" y="5172075"/>
            <a:ext cx="569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App Móvil Nativa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1251644" y="5534025"/>
            <a:ext cx="4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Auditorías en terreno y alertas push de brechas en tiempo real.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6600825" y="5172075"/>
            <a:ext cx="5591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Remediación Autónoma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6600825" y="5534025"/>
            <a:ext cx="4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Scripts automáticos para corregir configuraciones de red inseguras.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2026-10-13T17:13:28Z</dcterms:created>
  <dc:creator>OpenAI</dc:creator>
</cp:coreProperties>
</file>