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" charset="1" panose="020B0604020202020204"/>
      <p:regular r:id="rId19"/>
    </p:embeddedFont>
    <p:embeddedFont>
      <p:font typeface="Arial Bold" charset="1" panose="020B0704020202020204"/>
      <p:regular r:id="rId20"/>
    </p:embeddedFont>
    <p:embeddedFont>
      <p:font typeface="Play Bold" charset="1" panose="00000800000000000000"/>
      <p:regular r:id="rId21"/>
    </p:embeddedFont>
    <p:embeddedFont>
      <p:font typeface="Inter Bold" charset="1" panose="02000503000000020004"/>
      <p:regular r:id="rId24"/>
    </p:embeddedFont>
    <p:embeddedFont>
      <p:font typeface="Inter" charset="1" panose="02000503000000020004"/>
      <p:regular r:id="rId25"/>
    </p:embeddedFont>
    <p:embeddedFont>
      <p:font typeface="Courier New" charset="1" panose="020703090202050204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Cerrar la parte técnica mostrando que el proyecto todavía tiene trabajo pendiente, pero que ya existe una base funcional y una ruta clara para continuar.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https://dani-iso-27001-ebon.vercel.app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17655" y="127635"/>
            <a:ext cx="6575298" cy="9620250"/>
            <a:chOff x="0" y="0"/>
            <a:chExt cx="8767064" cy="1282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67064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8767064">
                  <a:moveTo>
                    <a:pt x="0" y="0"/>
                  </a:moveTo>
                  <a:lnTo>
                    <a:pt x="8767064" y="0"/>
                  </a:lnTo>
                  <a:lnTo>
                    <a:pt x="8767064" y="12827000"/>
                  </a:lnTo>
                  <a:lnTo>
                    <a:pt x="0" y="12827000"/>
                  </a:lnTo>
                  <a:close/>
                </a:path>
              </a:pathLst>
            </a:custGeom>
            <a:solidFill>
              <a:srgbClr val="153A59"/>
            </a:solidFill>
            <a:ln w="19050" cap="sq">
              <a:solidFill>
                <a:srgbClr val="153A5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87300" y="4320540"/>
            <a:ext cx="4663440" cy="754380"/>
            <a:chOff x="0" y="0"/>
            <a:chExt cx="621792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2179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NormIA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34672" y="5239512"/>
            <a:ext cx="5623560" cy="754380"/>
            <a:chOff x="0" y="0"/>
            <a:chExt cx="749808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49808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D9ECF2"/>
                  </a:solidFill>
                  <a:latin typeface="Arial"/>
                  <a:ea typeface="Arial"/>
                  <a:cs typeface="Arial"/>
                  <a:sym typeface="Arial"/>
                </a:rPr>
                <a:t>Gobernanza · Riesgo · Cumplimiento · 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48" y="1261872"/>
            <a:ext cx="4114800" cy="342900"/>
            <a:chOff x="0" y="0"/>
            <a:chExt cx="5486400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AVANCE FASE 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9848" y="1851660"/>
            <a:ext cx="9189720" cy="2125980"/>
            <a:chOff x="0" y="0"/>
            <a:chExt cx="12252960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2529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25" r="0" b="-342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2252960" cy="284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Proyecto APT</a:t>
              </a:r>
            </a:p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NormIA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9848" y="4251960"/>
            <a:ext cx="9395460" cy="1069848"/>
            <a:chOff x="0" y="0"/>
            <a:chExt cx="12527280" cy="14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272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118" r="0" b="-1211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527280" cy="1445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Plataforma GRC para apoyar la gestión de ISO/IEC 27001 y la Ley N.º 21.719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0323" y="5723763"/>
            <a:ext cx="3242310" cy="485394"/>
            <a:chOff x="0" y="0"/>
            <a:chExt cx="4323080" cy="6471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190373"/>
                  </a:moveTo>
                  <a:cubicBezTo>
                    <a:pt x="0" y="85217"/>
                    <a:pt x="85217" y="0"/>
                    <a:pt x="190373" y="0"/>
                  </a:cubicBezTo>
                  <a:lnTo>
                    <a:pt x="4132707" y="0"/>
                  </a:lnTo>
                  <a:cubicBezTo>
                    <a:pt x="4237863" y="0"/>
                    <a:pt x="4323080" y="85217"/>
                    <a:pt x="4323080" y="190373"/>
                  </a:cubicBezTo>
                  <a:lnTo>
                    <a:pt x="4323080" y="456819"/>
                  </a:lnTo>
                  <a:cubicBezTo>
                    <a:pt x="4323080" y="561975"/>
                    <a:pt x="4237863" y="647192"/>
                    <a:pt x="4132707" y="647192"/>
                  </a:cubicBezTo>
                  <a:lnTo>
                    <a:pt x="190373" y="647192"/>
                  </a:lnTo>
                  <a:cubicBezTo>
                    <a:pt x="85217" y="647192"/>
                    <a:pt x="0" y="561975"/>
                    <a:pt x="0" y="456819"/>
                  </a:cubicBezTo>
                  <a:close/>
                </a:path>
              </a:pathLst>
            </a:custGeom>
            <a:solidFill>
              <a:srgbClr val="EAF5FD"/>
            </a:solidFill>
            <a:ln w="19050" cap="sq">
              <a:solidFill>
                <a:srgbClr val="EAF5F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5829300"/>
            <a:ext cx="3031236" cy="219456"/>
            <a:chOff x="0" y="0"/>
            <a:chExt cx="4041648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41648" cy="292608"/>
            </a:xfrm>
            <a:custGeom>
              <a:avLst/>
              <a:gdLst/>
              <a:ahLst/>
              <a:cxnLst/>
              <a:rect r="r" b="b" t="t" l="l"/>
              <a:pathLst>
                <a:path h="292608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137" r="0" b="-2191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041648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2A9D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Ingeniería en Informática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61891" y="5723763"/>
            <a:ext cx="2419350" cy="485394"/>
            <a:chOff x="0" y="0"/>
            <a:chExt cx="3225800" cy="647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5800" cy="647192"/>
            </a:xfrm>
            <a:custGeom>
              <a:avLst/>
              <a:gdLst/>
              <a:ahLst/>
              <a:cxnLst/>
              <a:rect r="r" b="b" t="t" l="l"/>
              <a:pathLst>
                <a:path h="647192" w="3225800">
                  <a:moveTo>
                    <a:pt x="0" y="190373"/>
                  </a:moveTo>
                  <a:cubicBezTo>
                    <a:pt x="0" y="85217"/>
                    <a:pt x="85217" y="0"/>
                    <a:pt x="190373" y="0"/>
                  </a:cubicBezTo>
                  <a:lnTo>
                    <a:pt x="3035427" y="0"/>
                  </a:lnTo>
                  <a:cubicBezTo>
                    <a:pt x="3140583" y="0"/>
                    <a:pt x="3225800" y="85217"/>
                    <a:pt x="3225800" y="190373"/>
                  </a:cubicBezTo>
                  <a:lnTo>
                    <a:pt x="3225800" y="456819"/>
                  </a:lnTo>
                  <a:cubicBezTo>
                    <a:pt x="3225800" y="561975"/>
                    <a:pt x="3140583" y="647192"/>
                    <a:pt x="3035427" y="647192"/>
                  </a:cubicBezTo>
                  <a:lnTo>
                    <a:pt x="190373" y="647192"/>
                  </a:lnTo>
                  <a:cubicBezTo>
                    <a:pt x="85217" y="647192"/>
                    <a:pt x="0" y="561975"/>
                    <a:pt x="0" y="456819"/>
                  </a:cubicBezTo>
                  <a:close/>
                </a:path>
              </a:pathLst>
            </a:custGeom>
            <a:solidFill>
              <a:srgbClr val="EAF9F6"/>
            </a:solidFill>
            <a:ln w="19050" cap="sq">
              <a:solidFill>
                <a:srgbClr val="EAF9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4567428" y="5829300"/>
            <a:ext cx="2208276" cy="219456"/>
            <a:chOff x="0" y="0"/>
            <a:chExt cx="2944368" cy="292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44368" cy="292608"/>
            </a:xfrm>
            <a:custGeom>
              <a:avLst/>
              <a:gdLst/>
              <a:ahLst/>
              <a:cxnLst/>
              <a:rect r="r" b="b" t="t" l="l"/>
              <a:pathLst>
                <a:path h="292608" w="2944368">
                  <a:moveTo>
                    <a:pt x="0" y="0"/>
                  </a:moveTo>
                  <a:lnTo>
                    <a:pt x="2944368" y="0"/>
                  </a:lnTo>
                  <a:lnTo>
                    <a:pt x="294436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68" r="0" b="-14606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944368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de Título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8580">
            <a:off x="1058418" y="6990397"/>
            <a:ext cx="9144010" cy="0"/>
          </a:xfrm>
          <a:prstGeom prst="line">
            <a:avLst/>
          </a:prstGeom>
          <a:ln cap="rnd" w="9525">
            <a:solidFill>
              <a:srgbClr val="D9E6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069848" y="7351776"/>
            <a:ext cx="1783080" cy="301752"/>
            <a:chOff x="0" y="0"/>
            <a:chExt cx="237744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77440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37744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647C9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Integrantes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9848" y="7790688"/>
            <a:ext cx="9326880" cy="480060"/>
            <a:chOff x="0" y="0"/>
            <a:chExt cx="1243584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35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566" r="0" b="-3285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24358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Celine Alcaíno · Justo Cano · Raul Barrera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69848" y="8572500"/>
            <a:ext cx="5486400" cy="342900"/>
            <a:chOff x="0" y="0"/>
            <a:chExt cx="731520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73152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Presentación de avance · 2026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846312" y="1261872"/>
            <a:ext cx="2400300" cy="2400300"/>
            <a:chOff x="0" y="0"/>
            <a:chExt cx="3200400" cy="3200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EVOLUCIÓN DEL PROYECTO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De plataforma GRC a NormIA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El proyecto nace para simplificar y centralizar procesos de cumplimiento que suelen estar dispersos.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8037" y="3007985"/>
            <a:ext cx="5094151" cy="3217650"/>
            <a:chOff x="0" y="0"/>
            <a:chExt cx="6792201" cy="4290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2214" cy="4290187"/>
            </a:xfrm>
            <a:custGeom>
              <a:avLst/>
              <a:gdLst/>
              <a:ahLst/>
              <a:cxnLst/>
              <a:rect r="r" b="b" t="t" l="l"/>
              <a:pathLst>
                <a:path h="4290187" w="679221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32575" y="0"/>
                  </a:lnTo>
                  <a:cubicBezTo>
                    <a:pt x="6720713" y="0"/>
                    <a:pt x="6792214" y="71501"/>
                    <a:pt x="6792214" y="159639"/>
                  </a:cubicBezTo>
                  <a:lnTo>
                    <a:pt x="6792214" y="4130548"/>
                  </a:lnTo>
                  <a:cubicBezTo>
                    <a:pt x="6792214" y="4218686"/>
                    <a:pt x="6720713" y="4290187"/>
                    <a:pt x="6632575" y="4290187"/>
                  </a:cubicBezTo>
                  <a:lnTo>
                    <a:pt x="159639" y="4290187"/>
                  </a:lnTo>
                  <a:cubicBezTo>
                    <a:pt x="71501" y="4290187"/>
                    <a:pt x="0" y="4218686"/>
                    <a:pt x="0" y="41305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79779" y="3309747"/>
            <a:ext cx="814578" cy="814578"/>
            <a:chOff x="0" y="0"/>
            <a:chExt cx="1086104" cy="10861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936244" y="0"/>
                  </a:lnTo>
                  <a:cubicBezTo>
                    <a:pt x="1018921" y="0"/>
                    <a:pt x="1086104" y="67056"/>
                    <a:pt x="1086104" y="149860"/>
                  </a:cubicBezTo>
                  <a:lnTo>
                    <a:pt x="1086104" y="936244"/>
                  </a:lnTo>
                  <a:cubicBezTo>
                    <a:pt x="1086104" y="1018921"/>
                    <a:pt x="1019048" y="1086104"/>
                    <a:pt x="936244" y="1086104"/>
                  </a:cubicBezTo>
                  <a:lnTo>
                    <a:pt x="149860" y="1086104"/>
                  </a:lnTo>
                  <a:cubicBezTo>
                    <a:pt x="67056" y="1086104"/>
                    <a:pt x="0" y="1019048"/>
                    <a:pt x="0" y="936244"/>
                  </a:cubicBezTo>
                  <a:close/>
                </a:path>
              </a:pathLst>
            </a:custGeom>
            <a:solidFill>
              <a:srgbClr val="EAF5FD"/>
            </a:solidFill>
            <a:ln w="19050" cap="sq">
              <a:solidFill>
                <a:srgbClr val="EAF5F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89304" y="3429000"/>
            <a:ext cx="795528" cy="438912"/>
            <a:chOff x="0" y="0"/>
            <a:chExt cx="1060704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" cy="585216"/>
            </a:xfrm>
            <a:custGeom>
              <a:avLst/>
              <a:gdLst/>
              <a:ahLst/>
              <a:cxnLst/>
              <a:rect r="r" b="b" t="t" l="l"/>
              <a:pathLst>
                <a:path h="585216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60704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2A9D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9304" y="4672022"/>
            <a:ext cx="4471197" cy="466201"/>
            <a:chOff x="0" y="0"/>
            <a:chExt cx="5961596" cy="6216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61600" cy="621600"/>
            </a:xfrm>
            <a:custGeom>
              <a:avLst/>
              <a:gdLst/>
              <a:ahLst/>
              <a:cxnLst/>
              <a:rect r="r" b="b" t="t" l="l"/>
              <a:pathLst>
                <a:path h="621600" w="5961600">
                  <a:moveTo>
                    <a:pt x="0" y="0"/>
                  </a:moveTo>
                  <a:lnTo>
                    <a:pt x="5961600" y="0"/>
                  </a:lnTo>
                  <a:lnTo>
                    <a:pt x="59616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75" r="0" b="-1368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961596" cy="631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Plataforma base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01577" y="3007985"/>
            <a:ext cx="5094151" cy="3217650"/>
            <a:chOff x="0" y="0"/>
            <a:chExt cx="6792201" cy="4290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92214" cy="4290187"/>
            </a:xfrm>
            <a:custGeom>
              <a:avLst/>
              <a:gdLst/>
              <a:ahLst/>
              <a:cxnLst/>
              <a:rect r="r" b="b" t="t" l="l"/>
              <a:pathLst>
                <a:path h="4290187" w="679221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32575" y="0"/>
                  </a:lnTo>
                  <a:cubicBezTo>
                    <a:pt x="6720713" y="0"/>
                    <a:pt x="6792214" y="71501"/>
                    <a:pt x="6792214" y="159639"/>
                  </a:cubicBezTo>
                  <a:lnTo>
                    <a:pt x="6792214" y="4130548"/>
                  </a:lnTo>
                  <a:cubicBezTo>
                    <a:pt x="6792214" y="4218686"/>
                    <a:pt x="6720713" y="4290187"/>
                    <a:pt x="6632575" y="4290187"/>
                  </a:cubicBezTo>
                  <a:lnTo>
                    <a:pt x="159639" y="4290187"/>
                  </a:lnTo>
                  <a:cubicBezTo>
                    <a:pt x="71501" y="4290187"/>
                    <a:pt x="0" y="4218686"/>
                    <a:pt x="0" y="41305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903339" y="3309747"/>
            <a:ext cx="814578" cy="814578"/>
            <a:chOff x="0" y="0"/>
            <a:chExt cx="1086104" cy="10861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936244" y="0"/>
                  </a:lnTo>
                  <a:cubicBezTo>
                    <a:pt x="1018921" y="0"/>
                    <a:pt x="1086104" y="67056"/>
                    <a:pt x="1086104" y="149860"/>
                  </a:cubicBezTo>
                  <a:lnTo>
                    <a:pt x="1086104" y="936244"/>
                  </a:lnTo>
                  <a:cubicBezTo>
                    <a:pt x="1086104" y="1018921"/>
                    <a:pt x="1019048" y="1086104"/>
                    <a:pt x="936244" y="1086104"/>
                  </a:cubicBezTo>
                  <a:lnTo>
                    <a:pt x="149860" y="1086104"/>
                  </a:lnTo>
                  <a:cubicBezTo>
                    <a:pt x="67056" y="1086104"/>
                    <a:pt x="0" y="1019048"/>
                    <a:pt x="0" y="936244"/>
                  </a:cubicBezTo>
                  <a:close/>
                </a:path>
              </a:pathLst>
            </a:custGeom>
            <a:solidFill>
              <a:srgbClr val="EAF9F6"/>
            </a:solidFill>
            <a:ln w="19050" cap="sq">
              <a:solidFill>
                <a:srgbClr val="EAF9F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912864" y="3429000"/>
            <a:ext cx="795528" cy="438912"/>
            <a:chOff x="0" y="0"/>
            <a:chExt cx="106070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4" cy="585216"/>
            </a:xfrm>
            <a:custGeom>
              <a:avLst/>
              <a:gdLst/>
              <a:ahLst/>
              <a:cxnLst/>
              <a:rect r="r" b="b" t="t" l="l"/>
              <a:pathLst>
                <a:path h="585216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60704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34C7B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97103" y="4649686"/>
            <a:ext cx="4471197" cy="466201"/>
            <a:chOff x="0" y="0"/>
            <a:chExt cx="5961596" cy="6216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61600" cy="621600"/>
            </a:xfrm>
            <a:custGeom>
              <a:avLst/>
              <a:gdLst/>
              <a:ahLst/>
              <a:cxnLst/>
              <a:rect r="r" b="b" t="t" l="l"/>
              <a:pathLst>
                <a:path h="621600" w="5961600">
                  <a:moveTo>
                    <a:pt x="0" y="0"/>
                  </a:moveTo>
                  <a:lnTo>
                    <a:pt x="5961600" y="0"/>
                  </a:lnTo>
                  <a:lnTo>
                    <a:pt x="59616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75" r="0" b="-1368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961596" cy="631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Ampliación del avance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25147" y="3007985"/>
            <a:ext cx="5094151" cy="3217650"/>
            <a:chOff x="0" y="0"/>
            <a:chExt cx="6792201" cy="4290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2214" cy="4290187"/>
            </a:xfrm>
            <a:custGeom>
              <a:avLst/>
              <a:gdLst/>
              <a:ahLst/>
              <a:cxnLst/>
              <a:rect r="r" b="b" t="t" l="l"/>
              <a:pathLst>
                <a:path h="4290187" w="679221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32575" y="0"/>
                  </a:lnTo>
                  <a:cubicBezTo>
                    <a:pt x="6720713" y="0"/>
                    <a:pt x="6792214" y="71501"/>
                    <a:pt x="6792214" y="159639"/>
                  </a:cubicBezTo>
                  <a:lnTo>
                    <a:pt x="6792214" y="4130548"/>
                  </a:lnTo>
                  <a:cubicBezTo>
                    <a:pt x="6792214" y="4218686"/>
                    <a:pt x="6720713" y="4290187"/>
                    <a:pt x="6632575" y="4290187"/>
                  </a:cubicBezTo>
                  <a:lnTo>
                    <a:pt x="159639" y="4290187"/>
                  </a:lnTo>
                  <a:cubicBezTo>
                    <a:pt x="71501" y="4290187"/>
                    <a:pt x="0" y="4218686"/>
                    <a:pt x="0" y="41305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526899" y="3309747"/>
            <a:ext cx="814578" cy="814578"/>
            <a:chOff x="0" y="0"/>
            <a:chExt cx="1086104" cy="10861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936244" y="0"/>
                  </a:lnTo>
                  <a:cubicBezTo>
                    <a:pt x="1018921" y="0"/>
                    <a:pt x="1086104" y="67056"/>
                    <a:pt x="1086104" y="149860"/>
                  </a:cubicBezTo>
                  <a:lnTo>
                    <a:pt x="1086104" y="936244"/>
                  </a:lnTo>
                  <a:cubicBezTo>
                    <a:pt x="1086104" y="1018921"/>
                    <a:pt x="1019048" y="1086104"/>
                    <a:pt x="936244" y="1086104"/>
                  </a:cubicBezTo>
                  <a:lnTo>
                    <a:pt x="149860" y="1086104"/>
                  </a:lnTo>
                  <a:cubicBezTo>
                    <a:pt x="67056" y="1086104"/>
                    <a:pt x="0" y="1019048"/>
                    <a:pt x="0" y="936244"/>
                  </a:cubicBezTo>
                  <a:close/>
                </a:path>
              </a:pathLst>
            </a:custGeom>
            <a:solidFill>
              <a:srgbClr val="EAF5FD"/>
            </a:solidFill>
            <a:ln w="19050" cap="sq">
              <a:solidFill>
                <a:srgbClr val="EAF5F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36424" y="3429000"/>
            <a:ext cx="795528" cy="438912"/>
            <a:chOff x="0" y="0"/>
            <a:chExt cx="1060704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0704" cy="585216"/>
            </a:xfrm>
            <a:custGeom>
              <a:avLst/>
              <a:gdLst/>
              <a:ahLst/>
              <a:cxnLst/>
              <a:rect r="r" b="b" t="t" l="l"/>
              <a:pathLst>
                <a:path h="585216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60704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2A9D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704950" y="4649705"/>
            <a:ext cx="4471197" cy="466201"/>
            <a:chOff x="0" y="0"/>
            <a:chExt cx="5961596" cy="6216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61600" cy="621600"/>
            </a:xfrm>
            <a:custGeom>
              <a:avLst/>
              <a:gdLst/>
              <a:ahLst/>
              <a:cxnLst/>
              <a:rect r="r" b="b" t="t" l="l"/>
              <a:pathLst>
                <a:path h="621600" w="5961600">
                  <a:moveTo>
                    <a:pt x="0" y="0"/>
                  </a:moveTo>
                  <a:lnTo>
                    <a:pt x="5961600" y="0"/>
                  </a:lnTo>
                  <a:lnTo>
                    <a:pt x="59616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75" r="0" b="-1368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961596" cy="631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Nueva identidad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259" y="6656451"/>
            <a:ext cx="14900910" cy="2007870"/>
            <a:chOff x="0" y="0"/>
            <a:chExt cx="19867880" cy="2677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867880" cy="2677160"/>
            </a:xfrm>
            <a:custGeom>
              <a:avLst/>
              <a:gdLst/>
              <a:ahLst/>
              <a:cxnLst/>
              <a:rect r="r" b="b" t="t" l="l"/>
              <a:pathLst>
                <a:path h="2677160" w="1986788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9683222" y="0"/>
                  </a:lnTo>
                  <a:cubicBezTo>
                    <a:pt x="19785203" y="0"/>
                    <a:pt x="19867880" y="82677"/>
                    <a:pt x="19867880" y="184658"/>
                  </a:cubicBezTo>
                  <a:lnTo>
                    <a:pt x="19867880" y="2492502"/>
                  </a:lnTo>
                  <a:cubicBezTo>
                    <a:pt x="19867880" y="2594483"/>
                    <a:pt x="19785203" y="2677160"/>
                    <a:pt x="19683222" y="2677160"/>
                  </a:cubicBezTo>
                  <a:lnTo>
                    <a:pt x="184658" y="2677160"/>
                  </a:lnTo>
                  <a:cubicBezTo>
                    <a:pt x="82677" y="2677160"/>
                    <a:pt x="0" y="2594483"/>
                    <a:pt x="0" y="2492502"/>
                  </a:cubicBezTo>
                  <a:close/>
                </a:path>
              </a:pathLst>
            </a:custGeom>
            <a:solidFill>
              <a:srgbClr val="153A59"/>
            </a:solidFill>
            <a:ln w="19050" cap="sq">
              <a:solidFill>
                <a:srgbClr val="153A5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2167128" y="6995160"/>
            <a:ext cx="2400300" cy="301752"/>
            <a:chOff x="0" y="0"/>
            <a:chExt cx="320040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200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8DE5D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PROPUESTA DE VALOR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167128" y="7488936"/>
            <a:ext cx="13510260" cy="658368"/>
            <a:chOff x="0" y="0"/>
            <a:chExt cx="1801368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136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013680">
                  <a:moveTo>
                    <a:pt x="0" y="0"/>
                  </a:moveTo>
                  <a:lnTo>
                    <a:pt x="18013680" y="0"/>
                  </a:lnTo>
                  <a:lnTo>
                    <a:pt x="180136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849" r="0" b="-3498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801368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NormIA centraliza ISO 27001, Ley N.º 21.719, riesgos, evidencias y seguimiento, incorporando IA como apoyo al análisis. 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61872" y="4287774"/>
            <a:ext cx="41148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2698EA"/>
                </a:solidFill>
                <a:latin typeface="Arial Bold"/>
                <a:ea typeface="Arial Bold"/>
                <a:cs typeface="Arial Bold"/>
                <a:sym typeface="Arial Bold"/>
              </a:rPr>
              <a:t>DANI / GRC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577492" y="5314864"/>
            <a:ext cx="123301" cy="123301"/>
            <a:chOff x="0" y="0"/>
            <a:chExt cx="164402" cy="16440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2698E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77473" y="5667146"/>
            <a:ext cx="123301" cy="123301"/>
            <a:chOff x="0" y="0"/>
            <a:chExt cx="164402" cy="16440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2698EA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766249" y="5230597"/>
            <a:ext cx="37719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ISO 27001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66249" y="5582869"/>
            <a:ext cx="37719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Riesgos, controles y evidencias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962718" y="4287774"/>
            <a:ext cx="41148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35C9BB"/>
                </a:solidFill>
                <a:latin typeface="Arial Bold"/>
                <a:ea typeface="Arial Bold"/>
                <a:cs typeface="Arial Bold"/>
                <a:sym typeface="Arial Bold"/>
              </a:rPr>
              <a:t>Ley N.º 21.719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168353" y="5314864"/>
            <a:ext cx="123301" cy="123301"/>
            <a:chOff x="0" y="0"/>
            <a:chExt cx="164402" cy="16440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35C9BB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7357110" y="5230597"/>
            <a:ext cx="37719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Protección de datos personales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57110" y="5582869"/>
            <a:ext cx="37719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Nuevos módulos y requerimientos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168353" y="5667146"/>
            <a:ext cx="123301" cy="123301"/>
            <a:chOff x="0" y="0"/>
            <a:chExt cx="164402" cy="16440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35C9BB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2610167" y="4287774"/>
            <a:ext cx="4114800" cy="2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16324F"/>
                </a:solidFill>
                <a:latin typeface="Arial Bold"/>
                <a:ea typeface="Arial Bold"/>
                <a:cs typeface="Arial Bold"/>
                <a:sym typeface="Arial Bold"/>
              </a:rPr>
              <a:t>DANI → NormIA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947999" y="5304739"/>
            <a:ext cx="123301" cy="123301"/>
            <a:chOff x="0" y="0"/>
            <a:chExt cx="164402" cy="16440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3136775" y="5220452"/>
            <a:ext cx="3771900" cy="52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Rediseño visual y mejor navegación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6" id="76"/>
          <p:cNvSpPr txBox="true"/>
          <p:nvPr/>
        </p:nvSpPr>
        <p:spPr>
          <a:xfrm rot="0">
            <a:off x="13136756" y="5572744"/>
            <a:ext cx="3771900" cy="52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Identidad más clara para el producto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77" id="77"/>
          <p:cNvGrpSpPr/>
          <p:nvPr/>
        </p:nvGrpSpPr>
        <p:grpSpPr>
          <a:xfrm rot="0">
            <a:off x="12947999" y="5657021"/>
            <a:ext cx="123301" cy="123301"/>
            <a:chOff x="0" y="0"/>
            <a:chExt cx="164402" cy="16440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4338" cy="164338"/>
            </a:xfrm>
            <a:custGeom>
              <a:avLst/>
              <a:gdLst/>
              <a:ahLst/>
              <a:cxnLst/>
              <a:rect r="r" b="b" t="t" l="l"/>
              <a:pathLst>
                <a:path h="164338" w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cubicBezTo>
                    <a:pt x="127508" y="0"/>
                    <a:pt x="164338" y="36830"/>
                    <a:pt x="164338" y="82169"/>
                  </a:cubicBezTo>
                  <a:cubicBezTo>
                    <a:pt x="164338" y="127508"/>
                    <a:pt x="127508" y="164338"/>
                    <a:pt x="82169" y="164338"/>
                  </a:cubicBez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811823" y="663864"/>
            <a:ext cx="1537649" cy="1537649"/>
            <a:chOff x="0" y="0"/>
            <a:chExt cx="2050199" cy="20501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50161" cy="2050161"/>
            </a:xfrm>
            <a:custGeom>
              <a:avLst/>
              <a:gdLst/>
              <a:ahLst/>
              <a:cxnLst/>
              <a:rect r="r" b="b" t="t" l="l"/>
              <a:pathLst>
                <a:path h="2050161" w="2050161">
                  <a:moveTo>
                    <a:pt x="0" y="0"/>
                  </a:moveTo>
                  <a:lnTo>
                    <a:pt x="2050161" y="0"/>
                  </a:lnTo>
                  <a:lnTo>
                    <a:pt x="2050161" y="2050161"/>
                  </a:lnTo>
                  <a:lnTo>
                    <a:pt x="0" y="205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354" cy="329403"/>
            <a:chOff x="0" y="0"/>
            <a:chExt cx="6217806" cy="4392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800" cy="439200"/>
            </a:xfrm>
            <a:custGeom>
              <a:avLst/>
              <a:gdLst/>
              <a:ahLst/>
              <a:cxnLst/>
              <a:rect r="r" b="b" t="t" l="l"/>
              <a:pathLst>
                <a:path h="439200" w="6217800">
                  <a:moveTo>
                    <a:pt x="0" y="0"/>
                  </a:moveTo>
                  <a:lnTo>
                    <a:pt x="6217800" y="0"/>
                  </a:lnTo>
                  <a:lnTo>
                    <a:pt x="6217800" y="439200"/>
                  </a:lnTo>
                  <a:lnTo>
                    <a:pt x="0" y="43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851" r="0" b="-22585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806" cy="458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546" cy="987752"/>
            <a:chOff x="0" y="0"/>
            <a:chExt cx="21671394" cy="13170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400" cy="1317000"/>
            </a:xfrm>
            <a:custGeom>
              <a:avLst/>
              <a:gdLst/>
              <a:ahLst/>
              <a:cxnLst/>
              <a:rect r="r" b="b" t="t" l="l"/>
              <a:pathLst>
                <a:path h="1317000" w="21671400">
                  <a:moveTo>
                    <a:pt x="0" y="0"/>
                  </a:moveTo>
                  <a:lnTo>
                    <a:pt x="21671400" y="0"/>
                  </a:lnTo>
                  <a:lnTo>
                    <a:pt x="21671400" y="1317000"/>
                  </a:lnTo>
                  <a:lnTo>
                    <a:pt x="0" y="131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28" r="0" b="-2706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394" cy="1326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Metodología de trabajo aplicada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27978" y="3078394"/>
            <a:ext cx="2114140" cy="2114140"/>
            <a:chOff x="0" y="0"/>
            <a:chExt cx="2818854" cy="28188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8892" cy="2818892"/>
            </a:xfrm>
            <a:custGeom>
              <a:avLst/>
              <a:gdLst/>
              <a:ahLst/>
              <a:cxnLst/>
              <a:rect r="r" b="b" t="t" l="l"/>
              <a:pathLst>
                <a:path h="2818892" w="2818892">
                  <a:moveTo>
                    <a:pt x="0" y="1409446"/>
                  </a:moveTo>
                  <a:cubicBezTo>
                    <a:pt x="0" y="631063"/>
                    <a:pt x="631063" y="0"/>
                    <a:pt x="1409446" y="0"/>
                  </a:cubicBezTo>
                  <a:cubicBezTo>
                    <a:pt x="2187829" y="0"/>
                    <a:pt x="2818892" y="631063"/>
                    <a:pt x="2818892" y="1409446"/>
                  </a:cubicBezTo>
                  <a:cubicBezTo>
                    <a:pt x="2818892" y="2187829"/>
                    <a:pt x="2187829" y="2818892"/>
                    <a:pt x="1409446" y="2818892"/>
                  </a:cubicBezTo>
                  <a:cubicBezTo>
                    <a:pt x="631063" y="2818892"/>
                    <a:pt x="0" y="2187829"/>
                    <a:pt x="0" y="1409446"/>
                  </a:cubicBezTo>
                  <a:close/>
                </a:path>
              </a:pathLst>
            </a:custGeom>
            <a:solidFill>
              <a:srgbClr val="2A9DEB"/>
            </a:solidFill>
            <a:ln w="54487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355219" y="3674554"/>
            <a:ext cx="2059648" cy="588150"/>
            <a:chOff x="0" y="0"/>
            <a:chExt cx="2746197" cy="784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6200" cy="784200"/>
            </a:xfrm>
            <a:custGeom>
              <a:avLst/>
              <a:gdLst/>
              <a:ahLst/>
              <a:cxnLst/>
              <a:rect r="r" b="b" t="t" l="l"/>
              <a:pathLst>
                <a:path h="784200" w="2746200">
                  <a:moveTo>
                    <a:pt x="0" y="0"/>
                  </a:moveTo>
                  <a:lnTo>
                    <a:pt x="2746200" y="0"/>
                  </a:lnTo>
                  <a:lnTo>
                    <a:pt x="2746200" y="784200"/>
                  </a:lnTo>
                  <a:lnTo>
                    <a:pt x="0" y="78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4" r="0" b="-1823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746197" cy="8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35"/>
                </a:lnSpc>
              </a:pPr>
              <a:r>
                <a:rPr lang="en-US" b="true" sz="3862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93848" y="3817868"/>
            <a:ext cx="1243613" cy="655015"/>
            <a:chOff x="0" y="0"/>
            <a:chExt cx="1658150" cy="8733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58112" cy="873379"/>
            </a:xfrm>
            <a:custGeom>
              <a:avLst/>
              <a:gdLst/>
              <a:ahLst/>
              <a:cxnLst/>
              <a:rect r="r" b="b" t="t" l="l"/>
              <a:pathLst>
                <a:path h="873379" w="1658112">
                  <a:moveTo>
                    <a:pt x="0" y="0"/>
                  </a:moveTo>
                  <a:lnTo>
                    <a:pt x="1221486" y="0"/>
                  </a:lnTo>
                  <a:lnTo>
                    <a:pt x="1658112" y="436626"/>
                  </a:lnTo>
                  <a:lnTo>
                    <a:pt x="1221486" y="873379"/>
                  </a:lnTo>
                  <a:lnTo>
                    <a:pt x="0" y="873379"/>
                  </a:lnTo>
                  <a:lnTo>
                    <a:pt x="436626" y="436626"/>
                  </a:lnTo>
                  <a:close/>
                </a:path>
              </a:pathLst>
            </a:custGeom>
            <a:solidFill>
              <a:srgbClr val="C7D8E3"/>
            </a:solidFill>
            <a:ln w="27262" cap="sq">
              <a:solidFill>
                <a:srgbClr val="C7D8E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159042" y="5655974"/>
            <a:ext cx="2648702" cy="627755"/>
            <a:chOff x="0" y="0"/>
            <a:chExt cx="3531603" cy="8370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31600" cy="837000"/>
            </a:xfrm>
            <a:custGeom>
              <a:avLst/>
              <a:gdLst/>
              <a:ahLst/>
              <a:cxnLst/>
              <a:rect r="r" b="b" t="t" l="l"/>
              <a:pathLst>
                <a:path h="837000" w="3531600">
                  <a:moveTo>
                    <a:pt x="0" y="0"/>
                  </a:moveTo>
                  <a:lnTo>
                    <a:pt x="3531600" y="0"/>
                  </a:lnTo>
                  <a:lnTo>
                    <a:pt x="3531600" y="837000"/>
                  </a:lnTo>
                  <a:lnTo>
                    <a:pt x="0" y="83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3" r="0" b="-322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531603" cy="884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6"/>
                </a:lnSpc>
              </a:pPr>
              <a:r>
                <a:rPr lang="en-US" b="true" sz="2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Definición y Análisis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27446" y="6479934"/>
            <a:ext cx="3531146" cy="1608296"/>
            <a:chOff x="0" y="0"/>
            <a:chExt cx="4708195" cy="21443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08200" cy="2144400"/>
            </a:xfrm>
            <a:custGeom>
              <a:avLst/>
              <a:gdLst/>
              <a:ahLst/>
              <a:cxnLst/>
              <a:rect r="r" b="b" t="t" l="l"/>
              <a:pathLst>
                <a:path h="2144400" w="4708200">
                  <a:moveTo>
                    <a:pt x="0" y="0"/>
                  </a:moveTo>
                  <a:lnTo>
                    <a:pt x="4708200" y="0"/>
                  </a:lnTo>
                  <a:lnTo>
                    <a:pt x="4708200" y="2144400"/>
                  </a:lnTo>
                  <a:lnTo>
                    <a:pt x="0" y="214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7" t="0" r="-843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71450"/>
              <a:ext cx="4708195" cy="231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72"/>
                </a:lnSpc>
              </a:pPr>
              <a:r>
                <a:rPr lang="en-US" sz="20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Requerimientos + análisis GRC.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93253" y="3078394"/>
            <a:ext cx="2114140" cy="2114140"/>
            <a:chOff x="0" y="0"/>
            <a:chExt cx="2818854" cy="28188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18892" cy="2818892"/>
            </a:xfrm>
            <a:custGeom>
              <a:avLst/>
              <a:gdLst/>
              <a:ahLst/>
              <a:cxnLst/>
              <a:rect r="r" b="b" t="t" l="l"/>
              <a:pathLst>
                <a:path h="2818892" w="2818892">
                  <a:moveTo>
                    <a:pt x="0" y="1409446"/>
                  </a:moveTo>
                  <a:cubicBezTo>
                    <a:pt x="0" y="631063"/>
                    <a:pt x="631063" y="0"/>
                    <a:pt x="1409446" y="0"/>
                  </a:cubicBezTo>
                  <a:cubicBezTo>
                    <a:pt x="2187829" y="0"/>
                    <a:pt x="2818892" y="631063"/>
                    <a:pt x="2818892" y="1409446"/>
                  </a:cubicBezTo>
                  <a:cubicBezTo>
                    <a:pt x="2818892" y="2187829"/>
                    <a:pt x="2187829" y="2818892"/>
                    <a:pt x="1409446" y="2818892"/>
                  </a:cubicBezTo>
                  <a:cubicBezTo>
                    <a:pt x="631063" y="2818892"/>
                    <a:pt x="0" y="2187829"/>
                    <a:pt x="0" y="1409446"/>
                  </a:cubicBezTo>
                  <a:close/>
                </a:path>
              </a:pathLst>
            </a:custGeom>
            <a:solidFill>
              <a:srgbClr val="2A9DEB"/>
            </a:solidFill>
            <a:ln w="54487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220494" y="3674554"/>
            <a:ext cx="2059648" cy="588150"/>
            <a:chOff x="0" y="0"/>
            <a:chExt cx="2746197" cy="784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6200" cy="784200"/>
            </a:xfrm>
            <a:custGeom>
              <a:avLst/>
              <a:gdLst/>
              <a:ahLst/>
              <a:cxnLst/>
              <a:rect r="r" b="b" t="t" l="l"/>
              <a:pathLst>
                <a:path h="784200" w="2746200">
                  <a:moveTo>
                    <a:pt x="0" y="0"/>
                  </a:moveTo>
                  <a:lnTo>
                    <a:pt x="2746200" y="0"/>
                  </a:lnTo>
                  <a:lnTo>
                    <a:pt x="2746200" y="784200"/>
                  </a:lnTo>
                  <a:lnTo>
                    <a:pt x="0" y="78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4" r="0" b="-182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6197" cy="8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35"/>
                </a:lnSpc>
              </a:pPr>
              <a:r>
                <a:rPr lang="en-US" b="true" sz="3862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59113" y="3817868"/>
            <a:ext cx="1243613" cy="655015"/>
            <a:chOff x="0" y="0"/>
            <a:chExt cx="1658150" cy="8733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58112" cy="873379"/>
            </a:xfrm>
            <a:custGeom>
              <a:avLst/>
              <a:gdLst/>
              <a:ahLst/>
              <a:cxnLst/>
              <a:rect r="r" b="b" t="t" l="l"/>
              <a:pathLst>
                <a:path h="873379" w="1658112">
                  <a:moveTo>
                    <a:pt x="0" y="0"/>
                  </a:moveTo>
                  <a:lnTo>
                    <a:pt x="1221486" y="0"/>
                  </a:lnTo>
                  <a:lnTo>
                    <a:pt x="1658112" y="436626"/>
                  </a:lnTo>
                  <a:lnTo>
                    <a:pt x="1221486" y="873379"/>
                  </a:lnTo>
                  <a:lnTo>
                    <a:pt x="0" y="873379"/>
                  </a:lnTo>
                  <a:lnTo>
                    <a:pt x="436626" y="436626"/>
                  </a:lnTo>
                  <a:close/>
                </a:path>
              </a:pathLst>
            </a:custGeom>
            <a:solidFill>
              <a:srgbClr val="C7D8E3"/>
            </a:solidFill>
            <a:ln w="27262" cap="sq">
              <a:solidFill>
                <a:srgbClr val="C7D8E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024317" y="5655974"/>
            <a:ext cx="2648702" cy="627755"/>
            <a:chOff x="0" y="0"/>
            <a:chExt cx="3531603" cy="8370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1600" cy="837000"/>
            </a:xfrm>
            <a:custGeom>
              <a:avLst/>
              <a:gdLst/>
              <a:ahLst/>
              <a:cxnLst/>
              <a:rect r="r" b="b" t="t" l="l"/>
              <a:pathLst>
                <a:path h="837000" w="3531600">
                  <a:moveTo>
                    <a:pt x="0" y="0"/>
                  </a:moveTo>
                  <a:lnTo>
                    <a:pt x="3531600" y="0"/>
                  </a:lnTo>
                  <a:lnTo>
                    <a:pt x="3531600" y="837000"/>
                  </a:lnTo>
                  <a:lnTo>
                    <a:pt x="0" y="83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3" r="0" b="-322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531603" cy="884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6"/>
                </a:lnSpc>
              </a:pPr>
              <a:r>
                <a:rPr lang="en-US" b="true" sz="2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Diseño y Desarrollo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92720" y="6479934"/>
            <a:ext cx="3531146" cy="1608296"/>
            <a:chOff x="0" y="0"/>
            <a:chExt cx="4708195" cy="21443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08200" cy="2144400"/>
            </a:xfrm>
            <a:custGeom>
              <a:avLst/>
              <a:gdLst/>
              <a:ahLst/>
              <a:cxnLst/>
              <a:rect r="r" b="b" t="t" l="l"/>
              <a:pathLst>
                <a:path h="2144400" w="4708200">
                  <a:moveTo>
                    <a:pt x="0" y="0"/>
                  </a:moveTo>
                  <a:lnTo>
                    <a:pt x="4708200" y="0"/>
                  </a:lnTo>
                  <a:lnTo>
                    <a:pt x="4708200" y="2144400"/>
                  </a:lnTo>
                  <a:lnTo>
                    <a:pt x="0" y="214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7" t="0" r="-843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71450"/>
              <a:ext cx="4708195" cy="231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72"/>
                </a:lnSpc>
              </a:pPr>
              <a:r>
                <a:rPr lang="en-US" sz="20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UI + Modelo de datos + 4 sprints.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58527" y="3078394"/>
            <a:ext cx="2114140" cy="2114140"/>
            <a:chOff x="0" y="0"/>
            <a:chExt cx="2818854" cy="28188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18892" cy="2818892"/>
            </a:xfrm>
            <a:custGeom>
              <a:avLst/>
              <a:gdLst/>
              <a:ahLst/>
              <a:cxnLst/>
              <a:rect r="r" b="b" t="t" l="l"/>
              <a:pathLst>
                <a:path h="2818892" w="2818892">
                  <a:moveTo>
                    <a:pt x="0" y="1409446"/>
                  </a:moveTo>
                  <a:cubicBezTo>
                    <a:pt x="0" y="631063"/>
                    <a:pt x="631063" y="0"/>
                    <a:pt x="1409446" y="0"/>
                  </a:cubicBezTo>
                  <a:cubicBezTo>
                    <a:pt x="2187829" y="0"/>
                    <a:pt x="2818892" y="631063"/>
                    <a:pt x="2818892" y="1409446"/>
                  </a:cubicBezTo>
                  <a:cubicBezTo>
                    <a:pt x="2818892" y="2187829"/>
                    <a:pt x="2187829" y="2818892"/>
                    <a:pt x="1409446" y="2818892"/>
                  </a:cubicBezTo>
                  <a:cubicBezTo>
                    <a:pt x="631063" y="2818892"/>
                    <a:pt x="0" y="2187829"/>
                    <a:pt x="0" y="1409446"/>
                  </a:cubicBezTo>
                  <a:close/>
                </a:path>
              </a:pathLst>
            </a:custGeom>
            <a:solidFill>
              <a:srgbClr val="34C7B8"/>
            </a:solidFill>
            <a:ln w="54487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085769" y="3674554"/>
            <a:ext cx="2059648" cy="588150"/>
            <a:chOff x="0" y="0"/>
            <a:chExt cx="2746197" cy="784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6200" cy="784200"/>
            </a:xfrm>
            <a:custGeom>
              <a:avLst/>
              <a:gdLst/>
              <a:ahLst/>
              <a:cxnLst/>
              <a:rect r="r" b="b" t="t" l="l"/>
              <a:pathLst>
                <a:path h="784200" w="2746200">
                  <a:moveTo>
                    <a:pt x="0" y="0"/>
                  </a:moveTo>
                  <a:lnTo>
                    <a:pt x="2746200" y="0"/>
                  </a:lnTo>
                  <a:lnTo>
                    <a:pt x="2746200" y="784200"/>
                  </a:lnTo>
                  <a:lnTo>
                    <a:pt x="0" y="78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4" r="0" b="-182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746197" cy="8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35"/>
                </a:lnSpc>
              </a:pPr>
              <a:r>
                <a:rPr lang="en-US" b="true" sz="3862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89582" y="5655974"/>
            <a:ext cx="2648702" cy="627755"/>
            <a:chOff x="0" y="0"/>
            <a:chExt cx="3531603" cy="8370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31600" cy="837000"/>
            </a:xfrm>
            <a:custGeom>
              <a:avLst/>
              <a:gdLst/>
              <a:ahLst/>
              <a:cxnLst/>
              <a:rect r="r" b="b" t="t" l="l"/>
              <a:pathLst>
                <a:path h="837000" w="3531600">
                  <a:moveTo>
                    <a:pt x="0" y="0"/>
                  </a:moveTo>
                  <a:lnTo>
                    <a:pt x="3531600" y="0"/>
                  </a:lnTo>
                  <a:lnTo>
                    <a:pt x="3531600" y="837000"/>
                  </a:lnTo>
                  <a:lnTo>
                    <a:pt x="0" y="83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3" r="0" b="-322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531603" cy="884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6"/>
                </a:lnSpc>
              </a:pPr>
              <a:r>
                <a:rPr lang="en-US" b="true" sz="2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Validación y Cierre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57995" y="6479934"/>
            <a:ext cx="3531146" cy="1608296"/>
            <a:chOff x="0" y="0"/>
            <a:chExt cx="4708195" cy="21443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08200" cy="2144400"/>
            </a:xfrm>
            <a:custGeom>
              <a:avLst/>
              <a:gdLst/>
              <a:ahLst/>
              <a:cxnLst/>
              <a:rect r="r" b="b" t="t" l="l"/>
              <a:pathLst>
                <a:path h="2144400" w="4708200">
                  <a:moveTo>
                    <a:pt x="0" y="0"/>
                  </a:moveTo>
                  <a:lnTo>
                    <a:pt x="4708200" y="0"/>
                  </a:lnTo>
                  <a:lnTo>
                    <a:pt x="4708200" y="2144400"/>
                  </a:lnTo>
                  <a:lnTo>
                    <a:pt x="0" y="214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7" t="0" r="-843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71450"/>
              <a:ext cx="4708195" cy="231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72"/>
                </a:lnSpc>
              </a:pPr>
              <a:r>
                <a:rPr lang="en-US" sz="20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QA + pruebas + ajustes finales.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Ajustes realizados durante la Fase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Los cambios se realizaron a partir de dificultades técnicas, pruebas del producto y revisión del avance.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8640">
            <a:off x="1489681" y="4544187"/>
            <a:ext cx="15125748" cy="0"/>
          </a:xfrm>
          <a:prstGeom prst="line">
            <a:avLst/>
          </a:prstGeom>
          <a:ln cap="rnd" w="19050">
            <a:solidFill>
              <a:srgbClr val="D9E6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558290" y="4136898"/>
            <a:ext cx="806196" cy="806196"/>
            <a:chOff x="0" y="0"/>
            <a:chExt cx="1074928" cy="10749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4928" cy="1074928"/>
            </a:xfrm>
            <a:custGeom>
              <a:avLst/>
              <a:gdLst/>
              <a:ahLst/>
              <a:cxnLst/>
              <a:rect r="r" b="b" t="t" l="l"/>
              <a:pathLst>
                <a:path h="1074928" w="1074928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cubicBezTo>
                    <a:pt x="834263" y="0"/>
                    <a:pt x="1074928" y="240665"/>
                    <a:pt x="1074928" y="537464"/>
                  </a:cubicBezTo>
                  <a:cubicBezTo>
                    <a:pt x="1074928" y="834263"/>
                    <a:pt x="834263" y="1074928"/>
                    <a:pt x="537464" y="1074928"/>
                  </a:cubicBezTo>
                  <a:cubicBezTo>
                    <a:pt x="240665" y="1074928"/>
                    <a:pt x="0" y="834263"/>
                    <a:pt x="0" y="537464"/>
                  </a:cubicBezTo>
                  <a:close/>
                </a:path>
              </a:pathLst>
            </a:custGeom>
            <a:solidFill>
              <a:srgbClr val="2A9DEB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77340" y="4347972"/>
            <a:ext cx="768096" cy="274320"/>
            <a:chOff x="0" y="0"/>
            <a:chExt cx="1024128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2412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5588" y="3072384"/>
            <a:ext cx="2948940" cy="466344"/>
            <a:chOff x="0" y="0"/>
            <a:chExt cx="3931920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Nuevas tareas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5598" y="5266954"/>
            <a:ext cx="3223346" cy="1986296"/>
            <a:chOff x="0" y="0"/>
            <a:chExt cx="4297794" cy="26483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7800" cy="2648400"/>
            </a:xfrm>
            <a:custGeom>
              <a:avLst/>
              <a:gdLst/>
              <a:ahLst/>
              <a:cxnLst/>
              <a:rect r="r" b="b" t="t" l="l"/>
              <a:pathLst>
                <a:path h="2648400" w="4297800">
                  <a:moveTo>
                    <a:pt x="0" y="0"/>
                  </a:moveTo>
                  <a:lnTo>
                    <a:pt x="4297800" y="0"/>
                  </a:lnTo>
                  <a:lnTo>
                    <a:pt x="4297800" y="2648400"/>
                  </a:lnTo>
                  <a:lnTo>
                    <a:pt x="0" y="264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63" t="0" r="-2906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297794" cy="2657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Al comienzo de esta fase 2, se encontraron funciones que no estaban completadas.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65385" y="4136879"/>
            <a:ext cx="806253" cy="806253"/>
            <a:chOff x="0" y="0"/>
            <a:chExt cx="1075004" cy="10750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5055" cy="1075055"/>
            </a:xfrm>
            <a:custGeom>
              <a:avLst/>
              <a:gdLst/>
              <a:ahLst/>
              <a:cxnLst/>
              <a:rect r="r" b="b" t="t" l="l"/>
              <a:pathLst>
                <a:path h="1075055" w="1075055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cubicBezTo>
                    <a:pt x="834263" y="0"/>
                    <a:pt x="1075055" y="240665"/>
                    <a:pt x="1075055" y="537464"/>
                  </a:cubicBezTo>
                  <a:cubicBezTo>
                    <a:pt x="1075055" y="834263"/>
                    <a:pt x="834390" y="1075055"/>
                    <a:pt x="537464" y="1075055"/>
                  </a:cubicBezTo>
                  <a:cubicBezTo>
                    <a:pt x="240538" y="1075055"/>
                    <a:pt x="0" y="834390"/>
                    <a:pt x="0" y="537464"/>
                  </a:cubicBezTo>
                  <a:close/>
                </a:path>
              </a:pathLst>
            </a:custGeom>
            <a:solidFill>
              <a:srgbClr val="2A9DEB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4435" y="4347953"/>
            <a:ext cx="768153" cy="274501"/>
            <a:chOff x="0" y="0"/>
            <a:chExt cx="1024204" cy="3660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200" cy="366000"/>
            </a:xfrm>
            <a:custGeom>
              <a:avLst/>
              <a:gdLst/>
              <a:ahLst/>
              <a:cxnLst/>
              <a:rect r="r" b="b" t="t" l="l"/>
              <a:pathLst>
                <a:path h="366000" w="1024200">
                  <a:moveTo>
                    <a:pt x="0" y="0"/>
                  </a:moveTo>
                  <a:lnTo>
                    <a:pt x="1024200" y="0"/>
                  </a:lnTo>
                  <a:lnTo>
                    <a:pt x="1024200" y="366000"/>
                  </a:lnTo>
                  <a:lnTo>
                    <a:pt x="0" y="36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" r="0" b="-45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24204" cy="385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27344" y="3168482"/>
            <a:ext cx="2948854" cy="466201"/>
            <a:chOff x="0" y="0"/>
            <a:chExt cx="3931806" cy="6216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31800" cy="621600"/>
            </a:xfrm>
            <a:custGeom>
              <a:avLst/>
              <a:gdLst/>
              <a:ahLst/>
              <a:cxnLst/>
              <a:rect r="r" b="b" t="t" l="l"/>
              <a:pathLst>
                <a:path h="621600" w="3931800">
                  <a:moveTo>
                    <a:pt x="0" y="0"/>
                  </a:moveTo>
                  <a:lnTo>
                    <a:pt x="3931800" y="0"/>
                  </a:lnTo>
                  <a:lnTo>
                    <a:pt x="39318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48" r="0" b="-732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931806" cy="631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Mejoras visuales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327344" y="5266849"/>
            <a:ext cx="3223346" cy="1673552"/>
            <a:chOff x="0" y="0"/>
            <a:chExt cx="4297794" cy="22314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7800" cy="2231400"/>
            </a:xfrm>
            <a:custGeom>
              <a:avLst/>
              <a:gdLst/>
              <a:ahLst/>
              <a:cxnLst/>
              <a:rect r="r" b="b" t="t" l="l"/>
              <a:pathLst>
                <a:path h="2231400" w="4297800">
                  <a:moveTo>
                    <a:pt x="0" y="0"/>
                  </a:moveTo>
                  <a:lnTo>
                    <a:pt x="4297800" y="0"/>
                  </a:lnTo>
                  <a:lnTo>
                    <a:pt x="4297800" y="2231400"/>
                  </a:lnTo>
                  <a:lnTo>
                    <a:pt x="0" y="223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14" t="0" r="-1661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297794" cy="2240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La interfaz actual, no permite entender el proceso real que debe seguir el usuario.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293567" y="4082072"/>
            <a:ext cx="806253" cy="806253"/>
            <a:chOff x="0" y="0"/>
            <a:chExt cx="1075004" cy="10750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5055" cy="1075055"/>
            </a:xfrm>
            <a:custGeom>
              <a:avLst/>
              <a:gdLst/>
              <a:ahLst/>
              <a:cxnLst/>
              <a:rect r="r" b="b" t="t" l="l"/>
              <a:pathLst>
                <a:path h="1075055" w="1075055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cubicBezTo>
                    <a:pt x="834263" y="0"/>
                    <a:pt x="1075055" y="240665"/>
                    <a:pt x="1075055" y="537464"/>
                  </a:cubicBezTo>
                  <a:cubicBezTo>
                    <a:pt x="1075055" y="834263"/>
                    <a:pt x="834390" y="1075055"/>
                    <a:pt x="537464" y="1075055"/>
                  </a:cubicBezTo>
                  <a:cubicBezTo>
                    <a:pt x="240538" y="1075055"/>
                    <a:pt x="0" y="834390"/>
                    <a:pt x="0" y="537464"/>
                  </a:cubicBezTo>
                  <a:close/>
                </a:path>
              </a:pathLst>
            </a:custGeom>
            <a:solidFill>
              <a:srgbClr val="34C7B8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312617" y="4293146"/>
            <a:ext cx="768153" cy="274501"/>
            <a:chOff x="0" y="0"/>
            <a:chExt cx="1024204" cy="3660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200" cy="366000"/>
            </a:xfrm>
            <a:custGeom>
              <a:avLst/>
              <a:gdLst/>
              <a:ahLst/>
              <a:cxnLst/>
              <a:rect r="r" b="b" t="t" l="l"/>
              <a:pathLst>
                <a:path h="366000" w="1024200">
                  <a:moveTo>
                    <a:pt x="0" y="0"/>
                  </a:moveTo>
                  <a:lnTo>
                    <a:pt x="1024200" y="0"/>
                  </a:lnTo>
                  <a:lnTo>
                    <a:pt x="1024200" y="366000"/>
                  </a:lnTo>
                  <a:lnTo>
                    <a:pt x="0" y="36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" r="0" b="-45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24204" cy="385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085064" y="3072384"/>
            <a:ext cx="2948940" cy="466344"/>
            <a:chOff x="0" y="0"/>
            <a:chExt cx="3931920" cy="6217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gratuito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85026" y="5107991"/>
            <a:ext cx="3223346" cy="2576703"/>
            <a:chOff x="0" y="0"/>
            <a:chExt cx="4297794" cy="34356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97800" cy="3435600"/>
            </a:xfrm>
            <a:custGeom>
              <a:avLst/>
              <a:gdLst/>
              <a:ahLst/>
              <a:cxnLst/>
              <a:rect r="r" b="b" t="t" l="l"/>
              <a:pathLst>
                <a:path h="3435600" w="4297800">
                  <a:moveTo>
                    <a:pt x="0" y="0"/>
                  </a:moveTo>
                  <a:lnTo>
                    <a:pt x="4297800" y="0"/>
                  </a:lnTo>
                  <a:lnTo>
                    <a:pt x="4297800" y="3435600"/>
                  </a:lnTo>
                  <a:lnTo>
                    <a:pt x="0" y="343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564" t="0" r="-5256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297794" cy="3445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El plan gratuito hizo más lento la revisión de los errores, porque solo uno tiene acceso, retrasando la carta gantt.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INDICADORES 3 Y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Arquitectura y tecnologías del proyecto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La solución separa interfaz, lógica de negocio, persistencia y servicios de apoyo.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7584" y="4238073"/>
            <a:ext cx="1605829" cy="1833077"/>
            <a:chOff x="0" y="0"/>
            <a:chExt cx="2141106" cy="24441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1220" cy="2443988"/>
            </a:xfrm>
            <a:custGeom>
              <a:avLst/>
              <a:gdLst/>
              <a:ahLst/>
              <a:cxnLst/>
              <a:rect r="r" b="b" t="t" l="l"/>
              <a:pathLst>
                <a:path h="2443988" w="2141220">
                  <a:moveTo>
                    <a:pt x="0" y="1221994"/>
                  </a:moveTo>
                  <a:cubicBezTo>
                    <a:pt x="0" y="547116"/>
                    <a:pt x="479298" y="0"/>
                    <a:pt x="1070610" y="0"/>
                  </a:cubicBezTo>
                  <a:cubicBezTo>
                    <a:pt x="1661922" y="0"/>
                    <a:pt x="2141220" y="547116"/>
                    <a:pt x="2141220" y="1221994"/>
                  </a:cubicBezTo>
                  <a:cubicBezTo>
                    <a:pt x="2141220" y="1896872"/>
                    <a:pt x="1661922" y="2443988"/>
                    <a:pt x="1070610" y="2443988"/>
                  </a:cubicBezTo>
                  <a:cubicBezTo>
                    <a:pt x="479298" y="2443988"/>
                    <a:pt x="0" y="1896999"/>
                    <a:pt x="0" y="1221994"/>
                  </a:cubicBezTo>
                  <a:close/>
                </a:path>
              </a:pathLst>
            </a:custGeom>
            <a:solidFill>
              <a:srgbClr val="EAF5FD"/>
            </a:solidFill>
            <a:ln w="28575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61872" y="4848577"/>
            <a:ext cx="1577254" cy="376199"/>
            <a:chOff x="0" y="0"/>
            <a:chExt cx="2103006" cy="501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000" cy="501600"/>
            </a:xfrm>
            <a:custGeom>
              <a:avLst/>
              <a:gdLst/>
              <a:ahLst/>
              <a:cxnLst/>
              <a:rect r="r" b="b" t="t" l="l"/>
              <a:pathLst>
                <a:path h="501600" w="2103000">
                  <a:moveTo>
                    <a:pt x="0" y="0"/>
                  </a:moveTo>
                  <a:lnTo>
                    <a:pt x="2103000" y="0"/>
                  </a:lnTo>
                  <a:lnTo>
                    <a:pt x="2103000" y="501600"/>
                  </a:lnTo>
                  <a:lnTo>
                    <a:pt x="0" y="50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2" r="0" b="-316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103006" cy="511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b="true" sz="24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Usuario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88055" y="3803513"/>
            <a:ext cx="2967904" cy="2655151"/>
            <a:chOff x="0" y="0"/>
            <a:chExt cx="3957206" cy="35402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57193" cy="3540125"/>
            </a:xfrm>
            <a:custGeom>
              <a:avLst/>
              <a:gdLst/>
              <a:ahLst/>
              <a:cxnLst/>
              <a:rect r="r" b="b" t="t" l="l"/>
              <a:pathLst>
                <a:path h="3540125" w="3957193">
                  <a:moveTo>
                    <a:pt x="0" y="168529"/>
                  </a:moveTo>
                  <a:cubicBezTo>
                    <a:pt x="0" y="75438"/>
                    <a:pt x="75438" y="0"/>
                    <a:pt x="168529" y="0"/>
                  </a:cubicBezTo>
                  <a:lnTo>
                    <a:pt x="3788664" y="0"/>
                  </a:lnTo>
                  <a:cubicBezTo>
                    <a:pt x="3881755" y="0"/>
                    <a:pt x="3957193" y="75438"/>
                    <a:pt x="3957193" y="168529"/>
                  </a:cubicBezTo>
                  <a:lnTo>
                    <a:pt x="3957193" y="3371596"/>
                  </a:lnTo>
                  <a:cubicBezTo>
                    <a:pt x="3957193" y="3464687"/>
                    <a:pt x="3881755" y="3540125"/>
                    <a:pt x="3788664" y="3540125"/>
                  </a:cubicBezTo>
                  <a:lnTo>
                    <a:pt x="168529" y="3540125"/>
                  </a:lnTo>
                  <a:cubicBezTo>
                    <a:pt x="75438" y="3540252"/>
                    <a:pt x="0" y="3464687"/>
                    <a:pt x="0" y="3371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75607" y="4117315"/>
            <a:ext cx="979351" cy="1117054"/>
            <a:chOff x="0" y="0"/>
            <a:chExt cx="1305801" cy="1489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5814" cy="1489456"/>
            </a:xfrm>
            <a:custGeom>
              <a:avLst/>
              <a:gdLst/>
              <a:ahLst/>
              <a:cxnLst/>
              <a:rect r="r" b="b" t="t" l="l"/>
              <a:pathLst>
                <a:path h="1489456" w="1305814">
                  <a:moveTo>
                    <a:pt x="0" y="744728"/>
                  </a:moveTo>
                  <a:cubicBezTo>
                    <a:pt x="0" y="333375"/>
                    <a:pt x="292354" y="0"/>
                    <a:pt x="652907" y="0"/>
                  </a:cubicBezTo>
                  <a:cubicBezTo>
                    <a:pt x="1013460" y="0"/>
                    <a:pt x="1305814" y="333375"/>
                    <a:pt x="1305814" y="744728"/>
                  </a:cubicBezTo>
                  <a:cubicBezTo>
                    <a:pt x="1305814" y="1156081"/>
                    <a:pt x="1013460" y="1489456"/>
                    <a:pt x="652907" y="1489456"/>
                  </a:cubicBezTo>
                  <a:cubicBezTo>
                    <a:pt x="292354" y="1489456"/>
                    <a:pt x="0" y="1155954"/>
                    <a:pt x="0" y="744728"/>
                  </a:cubicBezTo>
                  <a:close/>
                </a:path>
              </a:pathLst>
            </a:custGeom>
            <a:solidFill>
              <a:srgbClr val="EAF5FD"/>
            </a:solidFill>
            <a:ln w="19050" cap="sq">
              <a:solidFill>
                <a:srgbClr val="EAF5F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485132" y="4409256"/>
            <a:ext cx="960301" cy="391954"/>
            <a:chOff x="0" y="0"/>
            <a:chExt cx="1280401" cy="5226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400" cy="522600"/>
            </a:xfrm>
            <a:custGeom>
              <a:avLst/>
              <a:gdLst/>
              <a:ahLst/>
              <a:cxnLst/>
              <a:rect r="r" b="b" t="t" l="l"/>
              <a:pathLst>
                <a:path h="522600" w="1280400">
                  <a:moveTo>
                    <a:pt x="0" y="0"/>
                  </a:moveTo>
                  <a:lnTo>
                    <a:pt x="1280400" y="0"/>
                  </a:lnTo>
                  <a:lnTo>
                    <a:pt x="1280400" y="522600"/>
                  </a:lnTo>
                  <a:lnTo>
                    <a:pt x="0" y="52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280401" cy="54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A9D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44468" y="5444804"/>
            <a:ext cx="2455202" cy="439198"/>
            <a:chOff x="0" y="0"/>
            <a:chExt cx="3273603" cy="5855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73600" cy="585600"/>
            </a:xfrm>
            <a:custGeom>
              <a:avLst/>
              <a:gdLst/>
              <a:ahLst/>
              <a:cxnLst/>
              <a:rect r="r" b="b" t="t" l="l"/>
              <a:pathLst>
                <a:path h="5856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585600"/>
                  </a:lnTo>
                  <a:lnTo>
                    <a:pt x="0" y="58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4" r="0" b="-589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273603" cy="604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b="true" sz="27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44468" y="5962574"/>
            <a:ext cx="2455202" cy="345148"/>
            <a:chOff x="0" y="0"/>
            <a:chExt cx="3273603" cy="4601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73600" cy="460200"/>
            </a:xfrm>
            <a:custGeom>
              <a:avLst/>
              <a:gdLst/>
              <a:ahLst/>
              <a:cxnLst/>
              <a:rect r="r" b="b" t="t" l="l"/>
              <a:pathLst>
                <a:path h="4602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460200"/>
                  </a:lnTo>
                  <a:lnTo>
                    <a:pt x="0" y="46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05" r="0" b="-886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273603" cy="479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React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17055" y="3803513"/>
            <a:ext cx="2967904" cy="2655151"/>
            <a:chOff x="0" y="0"/>
            <a:chExt cx="3957206" cy="35402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7193" cy="3540125"/>
            </a:xfrm>
            <a:custGeom>
              <a:avLst/>
              <a:gdLst/>
              <a:ahLst/>
              <a:cxnLst/>
              <a:rect r="r" b="b" t="t" l="l"/>
              <a:pathLst>
                <a:path h="3540125" w="3957193">
                  <a:moveTo>
                    <a:pt x="0" y="168529"/>
                  </a:moveTo>
                  <a:cubicBezTo>
                    <a:pt x="0" y="75438"/>
                    <a:pt x="75438" y="0"/>
                    <a:pt x="168529" y="0"/>
                  </a:cubicBezTo>
                  <a:lnTo>
                    <a:pt x="3788664" y="0"/>
                  </a:lnTo>
                  <a:cubicBezTo>
                    <a:pt x="3881755" y="0"/>
                    <a:pt x="3957193" y="75438"/>
                    <a:pt x="3957193" y="168529"/>
                  </a:cubicBezTo>
                  <a:lnTo>
                    <a:pt x="3957193" y="3371596"/>
                  </a:lnTo>
                  <a:cubicBezTo>
                    <a:pt x="3957193" y="3464687"/>
                    <a:pt x="3881755" y="3540125"/>
                    <a:pt x="3788664" y="3540125"/>
                  </a:cubicBezTo>
                  <a:lnTo>
                    <a:pt x="168529" y="3540125"/>
                  </a:lnTo>
                  <a:cubicBezTo>
                    <a:pt x="75438" y="3540252"/>
                    <a:pt x="0" y="3464687"/>
                    <a:pt x="0" y="3371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904607" y="4117315"/>
            <a:ext cx="979351" cy="1117054"/>
            <a:chOff x="0" y="0"/>
            <a:chExt cx="1305801" cy="14894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05814" cy="1489456"/>
            </a:xfrm>
            <a:custGeom>
              <a:avLst/>
              <a:gdLst/>
              <a:ahLst/>
              <a:cxnLst/>
              <a:rect r="r" b="b" t="t" l="l"/>
              <a:pathLst>
                <a:path h="1489456" w="1305814">
                  <a:moveTo>
                    <a:pt x="0" y="744728"/>
                  </a:moveTo>
                  <a:cubicBezTo>
                    <a:pt x="0" y="333375"/>
                    <a:pt x="292354" y="0"/>
                    <a:pt x="652907" y="0"/>
                  </a:cubicBezTo>
                  <a:cubicBezTo>
                    <a:pt x="1013460" y="0"/>
                    <a:pt x="1305814" y="333375"/>
                    <a:pt x="1305814" y="744728"/>
                  </a:cubicBezTo>
                  <a:cubicBezTo>
                    <a:pt x="1305814" y="1156081"/>
                    <a:pt x="1013460" y="1489456"/>
                    <a:pt x="652907" y="1489456"/>
                  </a:cubicBezTo>
                  <a:cubicBezTo>
                    <a:pt x="292354" y="1489456"/>
                    <a:pt x="0" y="1155954"/>
                    <a:pt x="0" y="744728"/>
                  </a:cubicBezTo>
                  <a:close/>
                </a:path>
              </a:pathLst>
            </a:custGeom>
            <a:solidFill>
              <a:srgbClr val="EAF9F6"/>
            </a:solidFill>
            <a:ln w="19050" cap="sq">
              <a:solidFill>
                <a:srgbClr val="EAF9F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914132" y="4409256"/>
            <a:ext cx="960301" cy="391954"/>
            <a:chOff x="0" y="0"/>
            <a:chExt cx="1280401" cy="522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400" cy="522600"/>
            </a:xfrm>
            <a:custGeom>
              <a:avLst/>
              <a:gdLst/>
              <a:ahLst/>
              <a:cxnLst/>
              <a:rect r="r" b="b" t="t" l="l"/>
              <a:pathLst>
                <a:path h="522600" w="1280400">
                  <a:moveTo>
                    <a:pt x="0" y="0"/>
                  </a:moveTo>
                  <a:lnTo>
                    <a:pt x="1280400" y="0"/>
                  </a:lnTo>
                  <a:lnTo>
                    <a:pt x="1280400" y="522600"/>
                  </a:lnTo>
                  <a:lnTo>
                    <a:pt x="0" y="52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280401" cy="54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34C7B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73468" y="5444804"/>
            <a:ext cx="2455202" cy="439198"/>
            <a:chOff x="0" y="0"/>
            <a:chExt cx="3273603" cy="5855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73600" cy="585600"/>
            </a:xfrm>
            <a:custGeom>
              <a:avLst/>
              <a:gdLst/>
              <a:ahLst/>
              <a:cxnLst/>
              <a:rect r="r" b="b" t="t" l="l"/>
              <a:pathLst>
                <a:path h="5856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585600"/>
                  </a:lnTo>
                  <a:lnTo>
                    <a:pt x="0" y="58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4" r="0" b="-589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273603" cy="604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b="true" sz="27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/ Backend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73468" y="5962574"/>
            <a:ext cx="2455202" cy="345148"/>
            <a:chOff x="0" y="0"/>
            <a:chExt cx="3273603" cy="4601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73600" cy="460200"/>
            </a:xfrm>
            <a:custGeom>
              <a:avLst/>
              <a:gdLst/>
              <a:ahLst/>
              <a:cxnLst/>
              <a:rect r="r" b="b" t="t" l="l"/>
              <a:pathLst>
                <a:path h="4602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460200"/>
                  </a:lnTo>
                  <a:lnTo>
                    <a:pt x="0" y="46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05" r="0" b="-8860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273603" cy="479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API REST +  Python y FastAPI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16377" y="3803513"/>
            <a:ext cx="2967904" cy="2655151"/>
            <a:chOff x="0" y="0"/>
            <a:chExt cx="3957206" cy="35402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57193" cy="3540125"/>
            </a:xfrm>
            <a:custGeom>
              <a:avLst/>
              <a:gdLst/>
              <a:ahLst/>
              <a:cxnLst/>
              <a:rect r="r" b="b" t="t" l="l"/>
              <a:pathLst>
                <a:path h="3540125" w="3957193">
                  <a:moveTo>
                    <a:pt x="0" y="168529"/>
                  </a:moveTo>
                  <a:cubicBezTo>
                    <a:pt x="0" y="75438"/>
                    <a:pt x="75438" y="0"/>
                    <a:pt x="168529" y="0"/>
                  </a:cubicBezTo>
                  <a:lnTo>
                    <a:pt x="3788664" y="0"/>
                  </a:lnTo>
                  <a:cubicBezTo>
                    <a:pt x="3881755" y="0"/>
                    <a:pt x="3957193" y="75438"/>
                    <a:pt x="3957193" y="168529"/>
                  </a:cubicBezTo>
                  <a:lnTo>
                    <a:pt x="3957193" y="3371596"/>
                  </a:lnTo>
                  <a:cubicBezTo>
                    <a:pt x="3957193" y="3464687"/>
                    <a:pt x="3881755" y="3540125"/>
                    <a:pt x="3788664" y="3540125"/>
                  </a:cubicBezTo>
                  <a:lnTo>
                    <a:pt x="168529" y="3540125"/>
                  </a:lnTo>
                  <a:cubicBezTo>
                    <a:pt x="75438" y="3540252"/>
                    <a:pt x="0" y="3464687"/>
                    <a:pt x="0" y="3371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703929" y="4117315"/>
            <a:ext cx="979351" cy="1117054"/>
            <a:chOff x="0" y="0"/>
            <a:chExt cx="1305801" cy="148940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05814" cy="1489456"/>
            </a:xfrm>
            <a:custGeom>
              <a:avLst/>
              <a:gdLst/>
              <a:ahLst/>
              <a:cxnLst/>
              <a:rect r="r" b="b" t="t" l="l"/>
              <a:pathLst>
                <a:path h="1489456" w="1305814">
                  <a:moveTo>
                    <a:pt x="0" y="744728"/>
                  </a:moveTo>
                  <a:cubicBezTo>
                    <a:pt x="0" y="333375"/>
                    <a:pt x="292354" y="0"/>
                    <a:pt x="652907" y="0"/>
                  </a:cubicBezTo>
                  <a:cubicBezTo>
                    <a:pt x="1013460" y="0"/>
                    <a:pt x="1305814" y="333375"/>
                    <a:pt x="1305814" y="744728"/>
                  </a:cubicBezTo>
                  <a:cubicBezTo>
                    <a:pt x="1305814" y="1156081"/>
                    <a:pt x="1013460" y="1489456"/>
                    <a:pt x="652907" y="1489456"/>
                  </a:cubicBezTo>
                  <a:cubicBezTo>
                    <a:pt x="292354" y="1489456"/>
                    <a:pt x="0" y="1155954"/>
                    <a:pt x="0" y="744728"/>
                  </a:cubicBezTo>
                  <a:close/>
                </a:path>
              </a:pathLst>
            </a:custGeom>
            <a:solidFill>
              <a:srgbClr val="EAF5FD"/>
            </a:solidFill>
            <a:ln w="19050" cap="sq">
              <a:solidFill>
                <a:srgbClr val="EAF5F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713454" y="4409256"/>
            <a:ext cx="960301" cy="391954"/>
            <a:chOff x="0" y="0"/>
            <a:chExt cx="1280401" cy="5226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400" cy="522600"/>
            </a:xfrm>
            <a:custGeom>
              <a:avLst/>
              <a:gdLst/>
              <a:ahLst/>
              <a:cxnLst/>
              <a:rect r="r" b="b" t="t" l="l"/>
              <a:pathLst>
                <a:path h="522600" w="1280400">
                  <a:moveTo>
                    <a:pt x="0" y="0"/>
                  </a:moveTo>
                  <a:lnTo>
                    <a:pt x="1280400" y="0"/>
                  </a:lnTo>
                  <a:lnTo>
                    <a:pt x="1280400" y="522600"/>
                  </a:lnTo>
                  <a:lnTo>
                    <a:pt x="0" y="52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280401" cy="54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A9D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972790" y="5444804"/>
            <a:ext cx="2455202" cy="439198"/>
            <a:chOff x="0" y="0"/>
            <a:chExt cx="3273603" cy="5855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73600" cy="585600"/>
            </a:xfrm>
            <a:custGeom>
              <a:avLst/>
              <a:gdLst/>
              <a:ahLst/>
              <a:cxnLst/>
              <a:rect r="r" b="b" t="t" l="l"/>
              <a:pathLst>
                <a:path h="5856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585600"/>
                  </a:lnTo>
                  <a:lnTo>
                    <a:pt x="0" y="58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4" r="0" b="-589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273603" cy="604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b="true" sz="27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Datos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72790" y="5962574"/>
            <a:ext cx="2455202" cy="345148"/>
            <a:chOff x="0" y="0"/>
            <a:chExt cx="3273603" cy="46019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73600" cy="460200"/>
            </a:xfrm>
            <a:custGeom>
              <a:avLst/>
              <a:gdLst/>
              <a:ahLst/>
              <a:cxnLst/>
              <a:rect r="r" b="b" t="t" l="l"/>
              <a:pathLst>
                <a:path h="4602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460200"/>
                  </a:lnTo>
                  <a:lnTo>
                    <a:pt x="0" y="46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05" r="0" b="-886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273603" cy="479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PostgreSQL + Docker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090513" y="3803513"/>
            <a:ext cx="2967904" cy="2655151"/>
            <a:chOff x="0" y="0"/>
            <a:chExt cx="3957206" cy="354020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57193" cy="3540125"/>
            </a:xfrm>
            <a:custGeom>
              <a:avLst/>
              <a:gdLst/>
              <a:ahLst/>
              <a:cxnLst/>
              <a:rect r="r" b="b" t="t" l="l"/>
              <a:pathLst>
                <a:path h="3540125" w="3957193">
                  <a:moveTo>
                    <a:pt x="0" y="168529"/>
                  </a:moveTo>
                  <a:cubicBezTo>
                    <a:pt x="0" y="75438"/>
                    <a:pt x="75438" y="0"/>
                    <a:pt x="168529" y="0"/>
                  </a:cubicBezTo>
                  <a:lnTo>
                    <a:pt x="3788664" y="0"/>
                  </a:lnTo>
                  <a:cubicBezTo>
                    <a:pt x="3881755" y="0"/>
                    <a:pt x="3957193" y="75438"/>
                    <a:pt x="3957193" y="168529"/>
                  </a:cubicBezTo>
                  <a:lnTo>
                    <a:pt x="3957193" y="3371596"/>
                  </a:lnTo>
                  <a:cubicBezTo>
                    <a:pt x="3957193" y="3464687"/>
                    <a:pt x="3881755" y="3540125"/>
                    <a:pt x="3788664" y="3540125"/>
                  </a:cubicBezTo>
                  <a:lnTo>
                    <a:pt x="168529" y="3540125"/>
                  </a:lnTo>
                  <a:cubicBezTo>
                    <a:pt x="75438" y="3540252"/>
                    <a:pt x="0" y="3464687"/>
                    <a:pt x="0" y="3371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5078065" y="4117315"/>
            <a:ext cx="979351" cy="1117054"/>
            <a:chOff x="0" y="0"/>
            <a:chExt cx="1305801" cy="148940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05814" cy="1489456"/>
            </a:xfrm>
            <a:custGeom>
              <a:avLst/>
              <a:gdLst/>
              <a:ahLst/>
              <a:cxnLst/>
              <a:rect r="r" b="b" t="t" l="l"/>
              <a:pathLst>
                <a:path h="1489456" w="1305814">
                  <a:moveTo>
                    <a:pt x="0" y="744728"/>
                  </a:moveTo>
                  <a:cubicBezTo>
                    <a:pt x="0" y="333375"/>
                    <a:pt x="292354" y="0"/>
                    <a:pt x="652907" y="0"/>
                  </a:cubicBezTo>
                  <a:cubicBezTo>
                    <a:pt x="1013460" y="0"/>
                    <a:pt x="1305814" y="333375"/>
                    <a:pt x="1305814" y="744728"/>
                  </a:cubicBezTo>
                  <a:cubicBezTo>
                    <a:pt x="1305814" y="1156081"/>
                    <a:pt x="1013460" y="1489456"/>
                    <a:pt x="652907" y="1489456"/>
                  </a:cubicBezTo>
                  <a:cubicBezTo>
                    <a:pt x="292354" y="1489456"/>
                    <a:pt x="0" y="1155954"/>
                    <a:pt x="0" y="744728"/>
                  </a:cubicBezTo>
                  <a:close/>
                </a:path>
              </a:pathLst>
            </a:custGeom>
            <a:solidFill>
              <a:srgbClr val="EAF9F6"/>
            </a:solidFill>
            <a:ln w="19050" cap="sq">
              <a:solidFill>
                <a:srgbClr val="EAF9F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087590" y="4409256"/>
            <a:ext cx="960301" cy="391954"/>
            <a:chOff x="0" y="0"/>
            <a:chExt cx="1280401" cy="52260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0400" cy="522600"/>
            </a:xfrm>
            <a:custGeom>
              <a:avLst/>
              <a:gdLst/>
              <a:ahLst/>
              <a:cxnLst/>
              <a:rect r="r" b="b" t="t" l="l"/>
              <a:pathLst>
                <a:path h="522600" w="1280400">
                  <a:moveTo>
                    <a:pt x="0" y="0"/>
                  </a:moveTo>
                  <a:lnTo>
                    <a:pt x="1280400" y="0"/>
                  </a:lnTo>
                  <a:lnTo>
                    <a:pt x="1280400" y="522600"/>
                  </a:lnTo>
                  <a:lnTo>
                    <a:pt x="0" y="52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280401" cy="54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34C7B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46926" y="5444804"/>
            <a:ext cx="2455202" cy="439198"/>
            <a:chOff x="0" y="0"/>
            <a:chExt cx="3273603" cy="58559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73600" cy="585600"/>
            </a:xfrm>
            <a:custGeom>
              <a:avLst/>
              <a:gdLst/>
              <a:ahLst/>
              <a:cxnLst/>
              <a:rect r="r" b="b" t="t" l="l"/>
              <a:pathLst>
                <a:path h="5856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585600"/>
                  </a:lnTo>
                  <a:lnTo>
                    <a:pt x="0" y="58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4" r="0" b="-5892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3273603" cy="604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b="true" sz="2775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IA + Servicios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46926" y="5962574"/>
            <a:ext cx="2455202" cy="345148"/>
            <a:chOff x="0" y="0"/>
            <a:chExt cx="3273603" cy="46019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73600" cy="460200"/>
            </a:xfrm>
            <a:custGeom>
              <a:avLst/>
              <a:gdLst/>
              <a:ahLst/>
              <a:cxnLst/>
              <a:rect r="r" b="b" t="t" l="l"/>
              <a:pathLst>
                <a:path h="460200" w="3273600">
                  <a:moveTo>
                    <a:pt x="0" y="0"/>
                  </a:moveTo>
                  <a:lnTo>
                    <a:pt x="3273600" y="0"/>
                  </a:lnTo>
                  <a:lnTo>
                    <a:pt x="3273600" y="460200"/>
                  </a:lnTo>
                  <a:lnTo>
                    <a:pt x="0" y="46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05" r="0" b="-8860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3273603" cy="479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Redis + Groq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843403" y="4744917"/>
            <a:ext cx="512702" cy="583797"/>
            <a:chOff x="0" y="0"/>
            <a:chExt cx="683603" cy="7783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3641" cy="778383"/>
            </a:xfrm>
            <a:custGeom>
              <a:avLst/>
              <a:gdLst/>
              <a:ahLst/>
              <a:cxnLst/>
              <a:rect r="r" b="b" t="t" l="l"/>
              <a:pathLst>
                <a:path h="778383" w="683641">
                  <a:moveTo>
                    <a:pt x="0" y="0"/>
                  </a:moveTo>
                  <a:lnTo>
                    <a:pt x="341757" y="0"/>
                  </a:lnTo>
                  <a:lnTo>
                    <a:pt x="683641" y="389255"/>
                  </a:lnTo>
                  <a:lnTo>
                    <a:pt x="341757" y="778383"/>
                  </a:lnTo>
                  <a:lnTo>
                    <a:pt x="0" y="778383"/>
                  </a:lnTo>
                  <a:lnTo>
                    <a:pt x="341757" y="389255"/>
                  </a:lnTo>
                  <a:close/>
                </a:path>
              </a:pathLst>
            </a:custGeom>
            <a:solidFill>
              <a:srgbClr val="BFD2DE"/>
            </a:solidFill>
            <a:ln w="19050" cap="sq">
              <a:solidFill>
                <a:srgbClr val="BFD2D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464427" y="4744917"/>
            <a:ext cx="512702" cy="583797"/>
            <a:chOff x="0" y="0"/>
            <a:chExt cx="683603" cy="7783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83641" cy="778383"/>
            </a:xfrm>
            <a:custGeom>
              <a:avLst/>
              <a:gdLst/>
              <a:ahLst/>
              <a:cxnLst/>
              <a:rect r="r" b="b" t="t" l="l"/>
              <a:pathLst>
                <a:path h="778383" w="683641">
                  <a:moveTo>
                    <a:pt x="0" y="0"/>
                  </a:moveTo>
                  <a:lnTo>
                    <a:pt x="341757" y="0"/>
                  </a:lnTo>
                  <a:lnTo>
                    <a:pt x="683641" y="389255"/>
                  </a:lnTo>
                  <a:lnTo>
                    <a:pt x="341757" y="778383"/>
                  </a:lnTo>
                  <a:lnTo>
                    <a:pt x="0" y="778383"/>
                  </a:lnTo>
                  <a:lnTo>
                    <a:pt x="341757" y="389255"/>
                  </a:lnTo>
                  <a:close/>
                </a:path>
              </a:pathLst>
            </a:custGeom>
            <a:solidFill>
              <a:srgbClr val="BFD2DE"/>
            </a:solidFill>
            <a:ln w="19050" cap="sq">
              <a:solidFill>
                <a:srgbClr val="BFD2DE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167737" y="4744917"/>
            <a:ext cx="512702" cy="583797"/>
            <a:chOff x="0" y="0"/>
            <a:chExt cx="683603" cy="7783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3641" cy="778383"/>
            </a:xfrm>
            <a:custGeom>
              <a:avLst/>
              <a:gdLst/>
              <a:ahLst/>
              <a:cxnLst/>
              <a:rect r="r" b="b" t="t" l="l"/>
              <a:pathLst>
                <a:path h="778383" w="683641">
                  <a:moveTo>
                    <a:pt x="0" y="0"/>
                  </a:moveTo>
                  <a:lnTo>
                    <a:pt x="341757" y="0"/>
                  </a:lnTo>
                  <a:lnTo>
                    <a:pt x="683641" y="389255"/>
                  </a:lnTo>
                  <a:lnTo>
                    <a:pt x="341757" y="778383"/>
                  </a:lnTo>
                  <a:lnTo>
                    <a:pt x="0" y="778383"/>
                  </a:lnTo>
                  <a:lnTo>
                    <a:pt x="341757" y="389255"/>
                  </a:lnTo>
                  <a:close/>
                </a:path>
              </a:pathLst>
            </a:custGeom>
            <a:solidFill>
              <a:srgbClr val="BFD2DE"/>
            </a:solidFill>
            <a:ln w="19050" cap="sq">
              <a:solidFill>
                <a:srgbClr val="BFD2D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679033" y="4744917"/>
            <a:ext cx="512702" cy="583797"/>
            <a:chOff x="0" y="0"/>
            <a:chExt cx="683603" cy="7783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3641" cy="778383"/>
            </a:xfrm>
            <a:custGeom>
              <a:avLst/>
              <a:gdLst/>
              <a:ahLst/>
              <a:cxnLst/>
              <a:rect r="r" b="b" t="t" l="l"/>
              <a:pathLst>
                <a:path h="778383" w="683641">
                  <a:moveTo>
                    <a:pt x="0" y="0"/>
                  </a:moveTo>
                  <a:lnTo>
                    <a:pt x="341757" y="0"/>
                  </a:lnTo>
                  <a:lnTo>
                    <a:pt x="683641" y="389255"/>
                  </a:lnTo>
                  <a:lnTo>
                    <a:pt x="341757" y="778383"/>
                  </a:lnTo>
                  <a:lnTo>
                    <a:pt x="0" y="778383"/>
                  </a:lnTo>
                  <a:lnTo>
                    <a:pt x="341757" y="389255"/>
                  </a:lnTo>
                  <a:close/>
                </a:path>
              </a:pathLst>
            </a:custGeom>
            <a:solidFill>
              <a:srgbClr val="BFD2DE"/>
            </a:solidFill>
            <a:ln w="19050" cap="sq">
              <a:solidFill>
                <a:srgbClr val="BFD2DE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508312" y="7109050"/>
            <a:ext cx="15271347" cy="1459049"/>
            <a:chOff x="0" y="0"/>
            <a:chExt cx="20361796" cy="194539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361783" cy="1945386"/>
            </a:xfrm>
            <a:custGeom>
              <a:avLst/>
              <a:gdLst/>
              <a:ahLst/>
              <a:cxnLst/>
              <a:rect r="r" b="b" t="t" l="l"/>
              <a:pathLst>
                <a:path h="1945386" w="20361783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0213574" y="0"/>
                  </a:lnTo>
                  <a:cubicBezTo>
                    <a:pt x="20295488" y="0"/>
                    <a:pt x="20361783" y="66421"/>
                    <a:pt x="20361783" y="148209"/>
                  </a:cubicBezTo>
                  <a:lnTo>
                    <a:pt x="20361783" y="1797177"/>
                  </a:lnTo>
                  <a:cubicBezTo>
                    <a:pt x="20361783" y="1879092"/>
                    <a:pt x="20295363" y="1945386"/>
                    <a:pt x="20213574" y="1945386"/>
                  </a:cubicBezTo>
                  <a:lnTo>
                    <a:pt x="148209" y="1945386"/>
                  </a:lnTo>
                  <a:cubicBezTo>
                    <a:pt x="66421" y="1945386"/>
                    <a:pt x="0" y="1879092"/>
                    <a:pt x="0" y="1797177"/>
                  </a:cubicBezTo>
                  <a:close/>
                </a:path>
              </a:pathLst>
            </a:custGeom>
            <a:solidFill>
              <a:srgbClr val="153A59"/>
            </a:solidFill>
            <a:ln w="19050" cap="sq">
              <a:solidFill>
                <a:srgbClr val="153A59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865366" y="7488936"/>
            <a:ext cx="4474797" cy="740702"/>
            <a:chOff x="0" y="0"/>
            <a:chExt cx="5966396" cy="98760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66400" cy="987600"/>
            </a:xfrm>
            <a:custGeom>
              <a:avLst/>
              <a:gdLst/>
              <a:ahLst/>
              <a:cxnLst/>
              <a:rect r="r" b="b" t="t" l="l"/>
              <a:pathLst>
                <a:path h="987600" w="5966400">
                  <a:moveTo>
                    <a:pt x="0" y="0"/>
                  </a:moveTo>
                  <a:lnTo>
                    <a:pt x="5966400" y="0"/>
                  </a:lnTo>
                  <a:lnTo>
                    <a:pt x="5966400" y="987600"/>
                  </a:lnTo>
                  <a:lnTo>
                    <a:pt x="0" y="98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14" r="0" b="-677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966396" cy="100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5">
                  <a:solidFill>
                    <a:srgbClr val="8DE5DA"/>
                  </a:solidFill>
                  <a:latin typeface="Arial"/>
                  <a:ea typeface="Arial"/>
                  <a:cs typeface="Arial"/>
                  <a:sym typeface="Arial"/>
                </a:rPr>
                <a:t>Infraestructura del ambiente de producción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372483" y="7605484"/>
            <a:ext cx="7965453" cy="466201"/>
            <a:chOff x="0" y="0"/>
            <a:chExt cx="10620604" cy="62160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20600" cy="621600"/>
            </a:xfrm>
            <a:custGeom>
              <a:avLst/>
              <a:gdLst/>
              <a:ahLst/>
              <a:cxnLst/>
              <a:rect r="r" b="b" t="t" l="l"/>
              <a:pathLst>
                <a:path h="621600" w="10620600">
                  <a:moveTo>
                    <a:pt x="0" y="0"/>
                  </a:moveTo>
                  <a:lnTo>
                    <a:pt x="10620600" y="0"/>
                  </a:lnTo>
                  <a:lnTo>
                    <a:pt x="106206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919" r="0" b="-28291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0620604" cy="640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Neon - Vercel - Render - Groq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Evidencia de avance: Front-End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La Fase 2 incorporó una landing más completa, coherente con la identidad NormIA y con navegación por secciones.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8027" y="2980563"/>
            <a:ext cx="11403330" cy="5985510"/>
            <a:chOff x="0" y="0"/>
            <a:chExt cx="15204440" cy="7980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04441" cy="7980680"/>
            </a:xfrm>
            <a:custGeom>
              <a:avLst/>
              <a:gdLst/>
              <a:ahLst/>
              <a:cxnLst/>
              <a:rect r="r" b="b" t="t" l="l"/>
              <a:pathLst>
                <a:path h="7980680" w="1520444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5057628" y="0"/>
                  </a:lnTo>
                  <a:cubicBezTo>
                    <a:pt x="15138654" y="0"/>
                    <a:pt x="15204441" y="65659"/>
                    <a:pt x="15204441" y="146812"/>
                  </a:cubicBezTo>
                  <a:lnTo>
                    <a:pt x="15204441" y="7833868"/>
                  </a:lnTo>
                  <a:cubicBezTo>
                    <a:pt x="15204441" y="7914894"/>
                    <a:pt x="15138781" y="7980680"/>
                    <a:pt x="15057628" y="7980680"/>
                  </a:cubicBezTo>
                  <a:lnTo>
                    <a:pt x="146812" y="7980680"/>
                  </a:lnTo>
                  <a:cubicBezTo>
                    <a:pt x="65659" y="7980680"/>
                    <a:pt x="0" y="7915021"/>
                    <a:pt x="0" y="78338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3264408"/>
            <a:ext cx="10904220" cy="5417820"/>
            <a:chOff x="0" y="0"/>
            <a:chExt cx="14538960" cy="7223760"/>
          </a:xfrm>
        </p:grpSpPr>
        <p:sp>
          <p:nvSpPr>
            <p:cNvPr name="Freeform 22" id="22" descr="/mnt/data/normia_hero_crop.png"/>
            <p:cNvSpPr/>
            <p:nvPr/>
          </p:nvSpPr>
          <p:spPr>
            <a:xfrm flipH="false" flipV="false" rot="0">
              <a:off x="0" y="0"/>
              <a:ext cx="14538961" cy="7223760"/>
            </a:xfrm>
            <a:custGeom>
              <a:avLst/>
              <a:gdLst/>
              <a:ahLst/>
              <a:cxnLst/>
              <a:rect r="r" b="b" t="t" l="l"/>
              <a:pathLst>
                <a:path h="7223760" w="14538961">
                  <a:moveTo>
                    <a:pt x="0" y="0"/>
                  </a:moveTo>
                  <a:lnTo>
                    <a:pt x="14538961" y="0"/>
                  </a:lnTo>
                  <a:lnTo>
                    <a:pt x="14538961" y="7223760"/>
                  </a:lnTo>
                  <a:lnTo>
                    <a:pt x="0" y="722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5" t="0" r="-1375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14935" y="2980563"/>
            <a:ext cx="4476750" cy="5985510"/>
            <a:chOff x="0" y="0"/>
            <a:chExt cx="5969000" cy="7980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690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59690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822061" y="0"/>
                  </a:lnTo>
                  <a:cubicBezTo>
                    <a:pt x="5903214" y="0"/>
                    <a:pt x="5969000" y="65786"/>
                    <a:pt x="5969000" y="146939"/>
                  </a:cubicBezTo>
                  <a:lnTo>
                    <a:pt x="5969000" y="7833741"/>
                  </a:lnTo>
                  <a:cubicBezTo>
                    <a:pt x="5969000" y="7914894"/>
                    <a:pt x="5903214" y="7980680"/>
                    <a:pt x="5822061" y="7980680"/>
                  </a:cubicBezTo>
                  <a:lnTo>
                    <a:pt x="146939" y="7980680"/>
                  </a:lnTo>
                  <a:cubicBezTo>
                    <a:pt x="65786" y="7980680"/>
                    <a:pt x="0" y="7914894"/>
                    <a:pt x="0" y="7833741"/>
                  </a:cubicBezTo>
                  <a:close/>
                </a:path>
              </a:pathLst>
            </a:custGeom>
            <a:solidFill>
              <a:srgbClr val="153A59"/>
            </a:solidFill>
            <a:ln w="19050" cap="sq">
              <a:solidFill>
                <a:srgbClr val="153A5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31952" y="3497580"/>
            <a:ext cx="3429000" cy="411480"/>
            <a:chOff x="0" y="0"/>
            <a:chExt cx="45720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Cambios visibles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22427" y="4420743"/>
            <a:ext cx="183642" cy="183642"/>
            <a:chOff x="0" y="0"/>
            <a:chExt cx="244856" cy="244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661136" y="4320540"/>
            <a:ext cx="3031236" cy="452628"/>
            <a:chOff x="0" y="0"/>
            <a:chExt cx="4041648" cy="603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41648" cy="603504"/>
            </a:xfrm>
            <a:custGeom>
              <a:avLst/>
              <a:gdLst/>
              <a:ahLst/>
              <a:cxnLst/>
              <a:rect r="r" b="b" t="t" l="l"/>
              <a:pathLst>
                <a:path h="60350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90" r="0" b="-804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41648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identidad visual NormIA.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22427" y="5175123"/>
            <a:ext cx="183642" cy="183642"/>
            <a:chOff x="0" y="0"/>
            <a:chExt cx="244856" cy="244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661136" y="5074920"/>
            <a:ext cx="3031236" cy="452628"/>
            <a:chOff x="0" y="0"/>
            <a:chExt cx="4041648" cy="603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41648" cy="603504"/>
            </a:xfrm>
            <a:custGeom>
              <a:avLst/>
              <a:gdLst/>
              <a:ahLst/>
              <a:cxnLst/>
              <a:rect r="r" b="b" t="t" l="l"/>
              <a:pathLst>
                <a:path h="60350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90" r="0" b="-804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041648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Landing page con mayor contexto del producto.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22427" y="5929503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661136" y="5829300"/>
            <a:ext cx="3031236" cy="452628"/>
            <a:chOff x="0" y="0"/>
            <a:chExt cx="4041648" cy="6035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41648" cy="603504"/>
            </a:xfrm>
            <a:custGeom>
              <a:avLst/>
              <a:gdLst/>
              <a:ahLst/>
              <a:cxnLst/>
              <a:rect r="r" b="b" t="t" l="l"/>
              <a:pathLst>
                <a:path h="60350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90" r="0" b="-804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041648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Accesos a Inicio, Quiénes somos, Soluciones, Cómo funciona y Normativas.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322427" y="6683883"/>
            <a:ext cx="183642" cy="183642"/>
            <a:chOff x="0" y="0"/>
            <a:chExt cx="244856" cy="244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661136" y="6583680"/>
            <a:ext cx="3031236" cy="452628"/>
            <a:chOff x="0" y="0"/>
            <a:chExt cx="4041648" cy="6035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41648" cy="603504"/>
            </a:xfrm>
            <a:custGeom>
              <a:avLst/>
              <a:gdLst/>
              <a:ahLst/>
              <a:cxnLst/>
              <a:rect r="r" b="b" t="t" l="l"/>
              <a:pathLst>
                <a:path h="60350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90" r="0" b="-804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041648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Secciones interactivas para explicar soluciones y marcos.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322427" y="7438263"/>
            <a:ext cx="183642" cy="183642"/>
            <a:chOff x="0" y="0"/>
            <a:chExt cx="244856" cy="244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661136" y="7338060"/>
            <a:ext cx="3031236" cy="452628"/>
            <a:chOff x="0" y="0"/>
            <a:chExt cx="4041648" cy="603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41648" cy="603504"/>
            </a:xfrm>
            <a:custGeom>
              <a:avLst/>
              <a:gdLst/>
              <a:ahLst/>
              <a:cxnLst/>
              <a:rect r="r" b="b" t="t" l="l"/>
              <a:pathLst>
                <a:path h="60350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90" r="0" b="-804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041648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Diseño alineado con azul y turquesa del producto.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49241" y="9028909"/>
            <a:ext cx="10851147" cy="4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5" tooltip="https://dani-iso-27001-ebon.vercel.app"/>
              </a:rPr>
              <a:t>https://dani-iso-27001-ebon.vercel.app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Evidencia técnica: backend, datos e IA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Además del trabajo visual, se configuró y validó la infraestructura necesaria para ejecutar funcionalidades del proyecto.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8037" y="2870854"/>
            <a:ext cx="8111404" cy="6344698"/>
            <a:chOff x="0" y="0"/>
            <a:chExt cx="10815206" cy="84595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5193" cy="8459597"/>
            </a:xfrm>
            <a:custGeom>
              <a:avLst/>
              <a:gdLst/>
              <a:ahLst/>
              <a:cxnLst/>
              <a:rect r="r" b="b" t="t" l="l"/>
              <a:pathLst>
                <a:path h="8459597" w="10815193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654030" y="0"/>
                  </a:lnTo>
                  <a:cubicBezTo>
                    <a:pt x="10743057" y="0"/>
                    <a:pt x="10815193" y="72136"/>
                    <a:pt x="10815193" y="161163"/>
                  </a:cubicBezTo>
                  <a:lnTo>
                    <a:pt x="10815193" y="8298434"/>
                  </a:lnTo>
                  <a:cubicBezTo>
                    <a:pt x="10815193" y="8387461"/>
                    <a:pt x="10743057" y="8459597"/>
                    <a:pt x="10654030" y="8459597"/>
                  </a:cubicBezTo>
                  <a:lnTo>
                    <a:pt x="161163" y="8459597"/>
                  </a:lnTo>
                  <a:cubicBezTo>
                    <a:pt x="72136" y="8459597"/>
                    <a:pt x="0" y="8387461"/>
                    <a:pt x="0" y="82984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23085" y="2870854"/>
            <a:ext cx="7768504" cy="6344698"/>
            <a:chOff x="0" y="0"/>
            <a:chExt cx="10358006" cy="84595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57993" cy="8459597"/>
            </a:xfrm>
            <a:custGeom>
              <a:avLst/>
              <a:gdLst/>
              <a:ahLst/>
              <a:cxnLst/>
              <a:rect r="r" b="b" t="t" l="l"/>
              <a:pathLst>
                <a:path h="8459597" w="10357993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196830" y="0"/>
                  </a:lnTo>
                  <a:cubicBezTo>
                    <a:pt x="10285857" y="0"/>
                    <a:pt x="10357993" y="72136"/>
                    <a:pt x="10357993" y="161163"/>
                  </a:cubicBezTo>
                  <a:lnTo>
                    <a:pt x="10357993" y="8298434"/>
                  </a:lnTo>
                  <a:cubicBezTo>
                    <a:pt x="10357993" y="8387461"/>
                    <a:pt x="10285857" y="8459597"/>
                    <a:pt x="10196830" y="8459597"/>
                  </a:cubicBezTo>
                  <a:lnTo>
                    <a:pt x="161163" y="8459597"/>
                  </a:lnTo>
                  <a:cubicBezTo>
                    <a:pt x="72136" y="8459597"/>
                    <a:pt x="0" y="8387461"/>
                    <a:pt x="0" y="82984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012680" y="3360420"/>
            <a:ext cx="6446520" cy="411480"/>
            <a:chOff x="0" y="0"/>
            <a:chExt cx="859536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95360" cy="548640"/>
            </a:xfrm>
            <a:custGeom>
              <a:avLst/>
              <a:gdLst/>
              <a:ahLst/>
              <a:cxnLst/>
              <a:rect r="r" b="b" t="t" l="l"/>
              <a:pathLst>
                <a:path h="5486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595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Evidencias de integración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03155" y="4187571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341864" y="4087368"/>
            <a:ext cx="6144768" cy="452628"/>
            <a:chOff x="0" y="0"/>
            <a:chExt cx="8193024" cy="603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93024" cy="603504"/>
            </a:xfrm>
            <a:custGeom>
              <a:avLst/>
              <a:gdLst/>
              <a:ahLst/>
              <a:cxnLst/>
              <a:rect r="r" b="b" t="t" l="l"/>
              <a:pathLst>
                <a:path h="603504" w="8193024">
                  <a:moveTo>
                    <a:pt x="0" y="0"/>
                  </a:moveTo>
                  <a:lnTo>
                    <a:pt x="8193024" y="0"/>
                  </a:lnTo>
                  <a:lnTo>
                    <a:pt x="819302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524" r="0" b="-2145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8193024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Docker Compose: PostgreSQL/pgvector y Redis ejecutándose localmente.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89449" y="6534626"/>
            <a:ext cx="183747" cy="183747"/>
            <a:chOff x="0" y="0"/>
            <a:chExt cx="244996" cy="2449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5110" cy="245110"/>
            </a:xfrm>
            <a:custGeom>
              <a:avLst/>
              <a:gdLst/>
              <a:ahLst/>
              <a:cxnLst/>
              <a:rect r="r" b="b" t="t" l="l"/>
              <a:pathLst>
                <a:path h="245110" w="245110">
                  <a:moveTo>
                    <a:pt x="0" y="122555"/>
                  </a:moveTo>
                  <a:cubicBezTo>
                    <a:pt x="0" y="54864"/>
                    <a:pt x="54864" y="0"/>
                    <a:pt x="122555" y="0"/>
                  </a:cubicBezTo>
                  <a:cubicBezTo>
                    <a:pt x="190246" y="0"/>
                    <a:pt x="245110" y="54864"/>
                    <a:pt x="245110" y="122555"/>
                  </a:cubicBezTo>
                  <a:cubicBezTo>
                    <a:pt x="245110" y="190246"/>
                    <a:pt x="190246" y="245110"/>
                    <a:pt x="122555" y="245110"/>
                  </a:cubicBezTo>
                  <a:cubicBezTo>
                    <a:pt x="54864" y="245110"/>
                    <a:pt x="0" y="190119"/>
                    <a:pt x="0" y="122555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328158" y="6434423"/>
            <a:ext cx="6144749" cy="452704"/>
            <a:chOff x="0" y="0"/>
            <a:chExt cx="8192999" cy="6036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93000" cy="603600"/>
            </a:xfrm>
            <a:custGeom>
              <a:avLst/>
              <a:gdLst/>
              <a:ahLst/>
              <a:cxnLst/>
              <a:rect r="r" b="b" t="t" l="l"/>
              <a:pathLst>
                <a:path h="603600" w="8193000">
                  <a:moveTo>
                    <a:pt x="0" y="0"/>
                  </a:moveTo>
                  <a:lnTo>
                    <a:pt x="8193000" y="0"/>
                  </a:lnTo>
                  <a:lnTo>
                    <a:pt x="8193000" y="603600"/>
                  </a:lnTo>
                  <a:lnTo>
                    <a:pt x="0" y="60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80" r="0" b="-2144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192999" cy="622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Backend API REST conectado a PostgreSQL.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29932" y="3115389"/>
            <a:ext cx="7701639" cy="1694583"/>
            <a:chOff x="0" y="0"/>
            <a:chExt cx="10268852" cy="22594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68839" cy="2259457"/>
            </a:xfrm>
            <a:custGeom>
              <a:avLst/>
              <a:gdLst/>
              <a:ahLst/>
              <a:cxnLst/>
              <a:rect r="r" b="b" t="t" l="l"/>
              <a:pathLst>
                <a:path h="2259457" w="10268839">
                  <a:moveTo>
                    <a:pt x="0" y="0"/>
                  </a:moveTo>
                  <a:lnTo>
                    <a:pt x="10268839" y="0"/>
                  </a:lnTo>
                  <a:lnTo>
                    <a:pt x="10268839" y="2259457"/>
                  </a:lnTo>
                  <a:lnTo>
                    <a:pt x="0" y="2259457"/>
                  </a:lnTo>
                  <a:close/>
                </a:path>
              </a:pathLst>
            </a:custGeom>
            <a:solidFill>
              <a:srgbClr val="000000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14142" y="3212592"/>
            <a:ext cx="7533227" cy="1500188"/>
            <a:chOff x="0" y="0"/>
            <a:chExt cx="10044303" cy="20002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44303" cy="2000250"/>
            </a:xfrm>
            <a:custGeom>
              <a:avLst/>
              <a:gdLst/>
              <a:ahLst/>
              <a:cxnLst/>
              <a:rect r="r" b="b" t="t" l="l"/>
              <a:pathLst>
                <a:path h="2000250" w="10044303">
                  <a:moveTo>
                    <a:pt x="0" y="0"/>
                  </a:moveTo>
                  <a:lnTo>
                    <a:pt x="10044303" y="0"/>
                  </a:lnTo>
                  <a:lnTo>
                    <a:pt x="10044303" y="2000250"/>
                  </a:lnTo>
                  <a:lnTo>
                    <a:pt x="0" y="200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33" r="0" b="-413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29932" y="4907004"/>
            <a:ext cx="7919885" cy="4079138"/>
            <a:chOff x="0" y="0"/>
            <a:chExt cx="10559847" cy="54388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59796" cy="5438902"/>
            </a:xfrm>
            <a:custGeom>
              <a:avLst/>
              <a:gdLst/>
              <a:ahLst/>
              <a:cxnLst/>
              <a:rect r="r" b="b" t="t" l="l"/>
              <a:pathLst>
                <a:path h="5438902" w="10559796">
                  <a:moveTo>
                    <a:pt x="0" y="0"/>
                  </a:moveTo>
                  <a:lnTo>
                    <a:pt x="10559796" y="0"/>
                  </a:lnTo>
                  <a:lnTo>
                    <a:pt x="10559796" y="5438902"/>
                  </a:lnTo>
                  <a:lnTo>
                    <a:pt x="0" y="5438902"/>
                  </a:lnTo>
                  <a:close/>
                </a:path>
              </a:pathLst>
            </a:custGeom>
            <a:solidFill>
              <a:srgbClr val="000000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14142" y="4914148"/>
            <a:ext cx="7749454" cy="3984374"/>
            <a:chOff x="0" y="0"/>
            <a:chExt cx="10332606" cy="53124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32593" cy="5312537"/>
            </a:xfrm>
            <a:custGeom>
              <a:avLst/>
              <a:gdLst/>
              <a:ahLst/>
              <a:cxnLst/>
              <a:rect r="r" b="b" t="t" l="l"/>
              <a:pathLst>
                <a:path h="5312537" w="10332593">
                  <a:moveTo>
                    <a:pt x="0" y="0"/>
                  </a:moveTo>
                  <a:lnTo>
                    <a:pt x="10332593" y="0"/>
                  </a:lnTo>
                  <a:lnTo>
                    <a:pt x="10332593" y="5312537"/>
                  </a:lnTo>
                  <a:lnTo>
                    <a:pt x="0" y="531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939" t="0" r="-11939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89449" y="5361080"/>
            <a:ext cx="183747" cy="183747"/>
            <a:chOff x="0" y="0"/>
            <a:chExt cx="244996" cy="2449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5110" cy="245110"/>
            </a:xfrm>
            <a:custGeom>
              <a:avLst/>
              <a:gdLst/>
              <a:ahLst/>
              <a:cxnLst/>
              <a:rect r="r" b="b" t="t" l="l"/>
              <a:pathLst>
                <a:path h="245110" w="245110">
                  <a:moveTo>
                    <a:pt x="0" y="122555"/>
                  </a:moveTo>
                  <a:cubicBezTo>
                    <a:pt x="0" y="54864"/>
                    <a:pt x="54864" y="0"/>
                    <a:pt x="122555" y="0"/>
                  </a:cubicBezTo>
                  <a:cubicBezTo>
                    <a:pt x="190246" y="0"/>
                    <a:pt x="245110" y="54864"/>
                    <a:pt x="245110" y="122555"/>
                  </a:cubicBezTo>
                  <a:cubicBezTo>
                    <a:pt x="245110" y="190246"/>
                    <a:pt x="190246" y="245110"/>
                    <a:pt x="122555" y="245110"/>
                  </a:cubicBezTo>
                  <a:cubicBezTo>
                    <a:pt x="54864" y="245110"/>
                    <a:pt x="0" y="190119"/>
                    <a:pt x="0" y="122555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328158" y="5260877"/>
            <a:ext cx="6144749" cy="452704"/>
            <a:chOff x="0" y="0"/>
            <a:chExt cx="8192999" cy="6036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93000" cy="603600"/>
            </a:xfrm>
            <a:custGeom>
              <a:avLst/>
              <a:gdLst/>
              <a:ahLst/>
              <a:cxnLst/>
              <a:rect r="r" b="b" t="t" l="l"/>
              <a:pathLst>
                <a:path h="603600" w="8193000">
                  <a:moveTo>
                    <a:pt x="0" y="0"/>
                  </a:moveTo>
                  <a:lnTo>
                    <a:pt x="8193000" y="0"/>
                  </a:lnTo>
                  <a:lnTo>
                    <a:pt x="8193000" y="603600"/>
                  </a:lnTo>
                  <a:lnTo>
                    <a:pt x="0" y="60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80" r="0" b="-21448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192999" cy="622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Entorno replicable con un solo comando 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89449" y="7708192"/>
            <a:ext cx="183747" cy="183747"/>
            <a:chOff x="0" y="0"/>
            <a:chExt cx="244996" cy="2449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5110" cy="245110"/>
            </a:xfrm>
            <a:custGeom>
              <a:avLst/>
              <a:gdLst/>
              <a:ahLst/>
              <a:cxnLst/>
              <a:rect r="r" b="b" t="t" l="l"/>
              <a:pathLst>
                <a:path h="245110" w="245110">
                  <a:moveTo>
                    <a:pt x="0" y="122555"/>
                  </a:moveTo>
                  <a:cubicBezTo>
                    <a:pt x="0" y="54864"/>
                    <a:pt x="54864" y="0"/>
                    <a:pt x="122555" y="0"/>
                  </a:cubicBezTo>
                  <a:cubicBezTo>
                    <a:pt x="190246" y="0"/>
                    <a:pt x="245110" y="54864"/>
                    <a:pt x="245110" y="122555"/>
                  </a:cubicBezTo>
                  <a:cubicBezTo>
                    <a:pt x="245110" y="190246"/>
                    <a:pt x="190246" y="245110"/>
                    <a:pt x="122555" y="245110"/>
                  </a:cubicBezTo>
                  <a:cubicBezTo>
                    <a:pt x="54864" y="245110"/>
                    <a:pt x="0" y="190119"/>
                    <a:pt x="0" y="122555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328158" y="7607989"/>
            <a:ext cx="6144749" cy="452704"/>
            <a:chOff x="0" y="0"/>
            <a:chExt cx="8192999" cy="6036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93000" cy="603600"/>
            </a:xfrm>
            <a:custGeom>
              <a:avLst/>
              <a:gdLst/>
              <a:ahLst/>
              <a:cxnLst/>
              <a:rect r="r" b="b" t="t" l="l"/>
              <a:pathLst>
                <a:path h="603600" w="8193000">
                  <a:moveTo>
                    <a:pt x="0" y="0"/>
                  </a:moveTo>
                  <a:lnTo>
                    <a:pt x="8193000" y="0"/>
                  </a:lnTo>
                  <a:lnTo>
                    <a:pt x="8193000" y="603600"/>
                  </a:lnTo>
                  <a:lnTo>
                    <a:pt x="0" y="60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80" r="0" b="-2144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8192999" cy="613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 con RAG: embeddings en pgvector y análisis con LLM.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Git como evidencia y trazabilidad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2029968"/>
            <a:ext cx="15361920" cy="617220"/>
            <a:chOff x="0" y="0"/>
            <a:chExt cx="20482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822960"/>
            </a:xfrm>
            <a:custGeom>
              <a:avLst/>
              <a:gdLst/>
              <a:ahLst/>
              <a:cxnLst/>
              <a:rect r="r" b="b" t="t" l="l"/>
              <a:pathLst>
                <a:path h="822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960" r="0" b="-434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4825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47C90"/>
                  </a:solidFill>
                  <a:latin typeface="Arial"/>
                  <a:ea typeface="Arial"/>
                  <a:cs typeface="Arial"/>
                  <a:sym typeface="Arial"/>
                </a:rPr>
                <a:t>El repositorio permite demostrar el avance del proyecto, mantener historial y separar el trabajo por ramas.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8037" y="2953121"/>
            <a:ext cx="7082704" cy="6648450"/>
            <a:chOff x="0" y="0"/>
            <a:chExt cx="9443606" cy="8864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43593" cy="8864600"/>
            </a:xfrm>
            <a:custGeom>
              <a:avLst/>
              <a:gdLst/>
              <a:ahLst/>
              <a:cxnLst/>
              <a:rect r="r" b="b" t="t" l="l"/>
              <a:pathLst>
                <a:path h="8864600" w="9443593">
                  <a:moveTo>
                    <a:pt x="0" y="157099"/>
                  </a:moveTo>
                  <a:cubicBezTo>
                    <a:pt x="0" y="70358"/>
                    <a:pt x="70358" y="0"/>
                    <a:pt x="157099" y="0"/>
                  </a:cubicBezTo>
                  <a:lnTo>
                    <a:pt x="9286494" y="0"/>
                  </a:lnTo>
                  <a:cubicBezTo>
                    <a:pt x="9373235" y="0"/>
                    <a:pt x="9443593" y="70358"/>
                    <a:pt x="9443593" y="157099"/>
                  </a:cubicBezTo>
                  <a:lnTo>
                    <a:pt x="9443593" y="8707501"/>
                  </a:lnTo>
                  <a:cubicBezTo>
                    <a:pt x="9443593" y="8794242"/>
                    <a:pt x="9373235" y="8864600"/>
                    <a:pt x="9286494" y="8864600"/>
                  </a:cubicBezTo>
                  <a:lnTo>
                    <a:pt x="157099" y="8864600"/>
                  </a:lnTo>
                  <a:cubicBezTo>
                    <a:pt x="70358" y="8864600"/>
                    <a:pt x="0" y="8794242"/>
                    <a:pt x="0" y="8707501"/>
                  </a:cubicBezTo>
                  <a:close/>
                </a:path>
              </a:pathLst>
            </a:custGeom>
            <a:solidFill>
              <a:srgbClr val="102739"/>
            </a:solidFill>
            <a:ln w="19050" cap="sq">
              <a:solidFill>
                <a:srgbClr val="10273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494385" y="2953121"/>
            <a:ext cx="8797204" cy="6648450"/>
            <a:chOff x="0" y="0"/>
            <a:chExt cx="11729606" cy="8864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29593" cy="8864600"/>
            </a:xfrm>
            <a:custGeom>
              <a:avLst/>
              <a:gdLst/>
              <a:ahLst/>
              <a:cxnLst/>
              <a:rect r="r" b="b" t="t" l="l"/>
              <a:pathLst>
                <a:path h="8864600" w="11729593">
                  <a:moveTo>
                    <a:pt x="0" y="157099"/>
                  </a:moveTo>
                  <a:cubicBezTo>
                    <a:pt x="0" y="70358"/>
                    <a:pt x="70358" y="0"/>
                    <a:pt x="157099" y="0"/>
                  </a:cubicBezTo>
                  <a:lnTo>
                    <a:pt x="11572494" y="0"/>
                  </a:lnTo>
                  <a:cubicBezTo>
                    <a:pt x="11659235" y="0"/>
                    <a:pt x="11729593" y="70358"/>
                    <a:pt x="11729593" y="157099"/>
                  </a:cubicBezTo>
                  <a:lnTo>
                    <a:pt x="11729593" y="8707501"/>
                  </a:lnTo>
                  <a:cubicBezTo>
                    <a:pt x="11729593" y="8794242"/>
                    <a:pt x="11659235" y="8864600"/>
                    <a:pt x="11572494" y="8864600"/>
                  </a:cubicBezTo>
                  <a:lnTo>
                    <a:pt x="157099" y="8864600"/>
                  </a:lnTo>
                  <a:cubicBezTo>
                    <a:pt x="70358" y="8864600"/>
                    <a:pt x="0" y="8794242"/>
                    <a:pt x="0" y="870750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6E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83980" y="3456432"/>
            <a:ext cx="5760720" cy="411480"/>
            <a:chOff x="0" y="0"/>
            <a:chExt cx="768096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0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6809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5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¿Qué demuestra el repositorio?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74465" y="4368108"/>
            <a:ext cx="183747" cy="269253"/>
            <a:chOff x="0" y="0"/>
            <a:chExt cx="244996" cy="3590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5110" cy="358902"/>
            </a:xfrm>
            <a:custGeom>
              <a:avLst/>
              <a:gdLst/>
              <a:ahLst/>
              <a:cxnLst/>
              <a:rect r="r" b="b" t="t" l="l"/>
              <a:pathLst>
                <a:path h="358902" w="245110">
                  <a:moveTo>
                    <a:pt x="0" y="179451"/>
                  </a:moveTo>
                  <a:cubicBezTo>
                    <a:pt x="0" y="80391"/>
                    <a:pt x="54864" y="0"/>
                    <a:pt x="122555" y="0"/>
                  </a:cubicBezTo>
                  <a:cubicBezTo>
                    <a:pt x="190246" y="0"/>
                    <a:pt x="245110" y="80391"/>
                    <a:pt x="245110" y="179451"/>
                  </a:cubicBezTo>
                  <a:cubicBezTo>
                    <a:pt x="245110" y="278511"/>
                    <a:pt x="190246" y="358902"/>
                    <a:pt x="122555" y="358902"/>
                  </a:cubicBezTo>
                  <a:cubicBezTo>
                    <a:pt x="54864" y="358902"/>
                    <a:pt x="0" y="278638"/>
                    <a:pt x="0" y="179451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13174" y="4210802"/>
            <a:ext cx="7008752" cy="688048"/>
            <a:chOff x="0" y="0"/>
            <a:chExt cx="9345003" cy="9173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45000" cy="917400"/>
            </a:xfrm>
            <a:custGeom>
              <a:avLst/>
              <a:gdLst/>
              <a:ahLst/>
              <a:cxnLst/>
              <a:rect r="r" b="b" t="t" l="l"/>
              <a:pathLst>
                <a:path h="917400" w="9345000">
                  <a:moveTo>
                    <a:pt x="0" y="0"/>
                  </a:moveTo>
                  <a:lnTo>
                    <a:pt x="9345000" y="0"/>
                  </a:lnTo>
                  <a:lnTo>
                    <a:pt x="9345000" y="917400"/>
                  </a:lnTo>
                  <a:lnTo>
                    <a:pt x="0" y="91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82" r="0" b="-1484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345003" cy="926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467 commits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74465" y="5410829"/>
            <a:ext cx="183747" cy="269253"/>
            <a:chOff x="0" y="0"/>
            <a:chExt cx="244996" cy="3590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5110" cy="358902"/>
            </a:xfrm>
            <a:custGeom>
              <a:avLst/>
              <a:gdLst/>
              <a:ahLst/>
              <a:cxnLst/>
              <a:rect r="r" b="b" t="t" l="l"/>
              <a:pathLst>
                <a:path h="358902" w="245110">
                  <a:moveTo>
                    <a:pt x="0" y="179451"/>
                  </a:moveTo>
                  <a:cubicBezTo>
                    <a:pt x="0" y="80391"/>
                    <a:pt x="54864" y="0"/>
                    <a:pt x="122555" y="0"/>
                  </a:cubicBezTo>
                  <a:cubicBezTo>
                    <a:pt x="190246" y="0"/>
                    <a:pt x="245110" y="80391"/>
                    <a:pt x="245110" y="179451"/>
                  </a:cubicBezTo>
                  <a:cubicBezTo>
                    <a:pt x="245110" y="278511"/>
                    <a:pt x="190246" y="358902"/>
                    <a:pt x="122555" y="358902"/>
                  </a:cubicBezTo>
                  <a:cubicBezTo>
                    <a:pt x="54864" y="358902"/>
                    <a:pt x="0" y="278638"/>
                    <a:pt x="0" y="179451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13174" y="5253523"/>
            <a:ext cx="7008752" cy="688048"/>
            <a:chOff x="0" y="0"/>
            <a:chExt cx="9345003" cy="9173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45000" cy="917400"/>
            </a:xfrm>
            <a:custGeom>
              <a:avLst/>
              <a:gdLst/>
              <a:ahLst/>
              <a:cxnLst/>
              <a:rect r="r" b="b" t="t" l="l"/>
              <a:pathLst>
                <a:path h="917400" w="9345000">
                  <a:moveTo>
                    <a:pt x="0" y="0"/>
                  </a:moveTo>
                  <a:lnTo>
                    <a:pt x="9345000" y="0"/>
                  </a:lnTo>
                  <a:lnTo>
                    <a:pt x="9345000" y="917400"/>
                  </a:lnTo>
                  <a:lnTo>
                    <a:pt x="0" y="91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82" r="0" b="-1484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345003" cy="926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Participación individual mediante ramas y commits.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74465" y="6453549"/>
            <a:ext cx="183747" cy="269253"/>
            <a:chOff x="0" y="0"/>
            <a:chExt cx="244996" cy="3590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5110" cy="358902"/>
            </a:xfrm>
            <a:custGeom>
              <a:avLst/>
              <a:gdLst/>
              <a:ahLst/>
              <a:cxnLst/>
              <a:rect r="r" b="b" t="t" l="l"/>
              <a:pathLst>
                <a:path h="358902" w="245110">
                  <a:moveTo>
                    <a:pt x="0" y="179451"/>
                  </a:moveTo>
                  <a:cubicBezTo>
                    <a:pt x="0" y="80391"/>
                    <a:pt x="54864" y="0"/>
                    <a:pt x="122555" y="0"/>
                  </a:cubicBezTo>
                  <a:cubicBezTo>
                    <a:pt x="190246" y="0"/>
                    <a:pt x="245110" y="80391"/>
                    <a:pt x="245110" y="179451"/>
                  </a:cubicBezTo>
                  <a:cubicBezTo>
                    <a:pt x="245110" y="278511"/>
                    <a:pt x="190246" y="358902"/>
                    <a:pt x="122555" y="358902"/>
                  </a:cubicBezTo>
                  <a:cubicBezTo>
                    <a:pt x="54864" y="358902"/>
                    <a:pt x="0" y="278638"/>
                    <a:pt x="0" y="179451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13174" y="6296244"/>
            <a:ext cx="7008752" cy="688048"/>
            <a:chOff x="0" y="0"/>
            <a:chExt cx="9345003" cy="9173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45000" cy="917400"/>
            </a:xfrm>
            <a:custGeom>
              <a:avLst/>
              <a:gdLst/>
              <a:ahLst/>
              <a:cxnLst/>
              <a:rect r="r" b="b" t="t" l="l"/>
              <a:pathLst>
                <a:path h="917400" w="9345000">
                  <a:moveTo>
                    <a:pt x="0" y="0"/>
                  </a:moveTo>
                  <a:lnTo>
                    <a:pt x="9345000" y="0"/>
                  </a:lnTo>
                  <a:lnTo>
                    <a:pt x="9345000" y="917400"/>
                  </a:lnTo>
                  <a:lnTo>
                    <a:pt x="0" y="91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82" r="0" b="-1484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345003" cy="926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Ramas por integrante y por funcionalidad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74465" y="7496270"/>
            <a:ext cx="183747" cy="269253"/>
            <a:chOff x="0" y="0"/>
            <a:chExt cx="244996" cy="3590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5110" cy="358902"/>
            </a:xfrm>
            <a:custGeom>
              <a:avLst/>
              <a:gdLst/>
              <a:ahLst/>
              <a:cxnLst/>
              <a:rect r="r" b="b" t="t" l="l"/>
              <a:pathLst>
                <a:path h="358902" w="245110">
                  <a:moveTo>
                    <a:pt x="0" y="179451"/>
                  </a:moveTo>
                  <a:cubicBezTo>
                    <a:pt x="0" y="80391"/>
                    <a:pt x="54864" y="0"/>
                    <a:pt x="122555" y="0"/>
                  </a:cubicBezTo>
                  <a:cubicBezTo>
                    <a:pt x="190246" y="0"/>
                    <a:pt x="245110" y="80391"/>
                    <a:pt x="245110" y="179451"/>
                  </a:cubicBezTo>
                  <a:cubicBezTo>
                    <a:pt x="245110" y="278511"/>
                    <a:pt x="190246" y="358902"/>
                    <a:pt x="122555" y="358902"/>
                  </a:cubicBezTo>
                  <a:cubicBezTo>
                    <a:pt x="54864" y="358902"/>
                    <a:pt x="0" y="278638"/>
                    <a:pt x="0" y="179451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13174" y="7338965"/>
            <a:ext cx="7008752" cy="688048"/>
            <a:chOff x="0" y="0"/>
            <a:chExt cx="9345003" cy="9173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45000" cy="917400"/>
            </a:xfrm>
            <a:custGeom>
              <a:avLst/>
              <a:gdLst/>
              <a:ahLst/>
              <a:cxnLst/>
              <a:rect r="r" b="b" t="t" l="l"/>
              <a:pathLst>
                <a:path h="917400" w="9345000">
                  <a:moveTo>
                    <a:pt x="0" y="0"/>
                  </a:moveTo>
                  <a:lnTo>
                    <a:pt x="9345000" y="0"/>
                  </a:lnTo>
                  <a:lnTo>
                    <a:pt x="9345000" y="917400"/>
                  </a:lnTo>
                  <a:lnTo>
                    <a:pt x="0" y="91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82" r="0" b="-14848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9345003" cy="926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Participación de los 3 integrantes.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74465" y="8538991"/>
            <a:ext cx="183747" cy="269253"/>
            <a:chOff x="0" y="0"/>
            <a:chExt cx="244996" cy="3590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5110" cy="358902"/>
            </a:xfrm>
            <a:custGeom>
              <a:avLst/>
              <a:gdLst/>
              <a:ahLst/>
              <a:cxnLst/>
              <a:rect r="r" b="b" t="t" l="l"/>
              <a:pathLst>
                <a:path h="358902" w="245110">
                  <a:moveTo>
                    <a:pt x="0" y="179451"/>
                  </a:moveTo>
                  <a:cubicBezTo>
                    <a:pt x="0" y="80391"/>
                    <a:pt x="54864" y="0"/>
                    <a:pt x="122555" y="0"/>
                  </a:cubicBezTo>
                  <a:cubicBezTo>
                    <a:pt x="190246" y="0"/>
                    <a:pt x="245110" y="80391"/>
                    <a:pt x="245110" y="179451"/>
                  </a:cubicBezTo>
                  <a:cubicBezTo>
                    <a:pt x="245110" y="278511"/>
                    <a:pt x="190246" y="358902"/>
                    <a:pt x="122555" y="358902"/>
                  </a:cubicBezTo>
                  <a:cubicBezTo>
                    <a:pt x="54864" y="358902"/>
                    <a:pt x="0" y="278638"/>
                    <a:pt x="0" y="179451"/>
                  </a:cubicBezTo>
                  <a:close/>
                </a:path>
              </a:pathLst>
            </a:custGeom>
            <a:solidFill>
              <a:srgbClr val="34C7B8"/>
            </a:solidFill>
            <a:ln w="19050" cap="sq">
              <a:solidFill>
                <a:srgbClr val="34C7B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313174" y="8381686"/>
            <a:ext cx="7008752" cy="688048"/>
            <a:chOff x="0" y="0"/>
            <a:chExt cx="9345003" cy="91739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45000" cy="917400"/>
            </a:xfrm>
            <a:custGeom>
              <a:avLst/>
              <a:gdLst/>
              <a:ahLst/>
              <a:cxnLst/>
              <a:rect r="r" b="b" t="t" l="l"/>
              <a:pathLst>
                <a:path h="917400" w="9345000">
                  <a:moveTo>
                    <a:pt x="0" y="0"/>
                  </a:moveTo>
                  <a:lnTo>
                    <a:pt x="9345000" y="0"/>
                  </a:lnTo>
                  <a:lnTo>
                    <a:pt x="9345000" y="917400"/>
                  </a:lnTo>
                  <a:lnTo>
                    <a:pt x="0" y="91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82" r="0" b="-1484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9345003" cy="926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02F4A"/>
                  </a:solidFill>
                  <a:latin typeface="Arial"/>
                  <a:ea typeface="Arial"/>
                  <a:cs typeface="Arial"/>
                  <a:sym typeface="Arial"/>
                </a:rPr>
                <a:t>Revisión de cambios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525067" y="3867902"/>
            <a:ext cx="5988634" cy="4966202"/>
            <a:chOff x="0" y="0"/>
            <a:chExt cx="7984846" cy="662160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84871" cy="6621653"/>
            </a:xfrm>
            <a:custGeom>
              <a:avLst/>
              <a:gdLst/>
              <a:ahLst/>
              <a:cxnLst/>
              <a:rect r="r" b="b" t="t" l="l"/>
              <a:pathLst>
                <a:path h="6621653" w="7984871">
                  <a:moveTo>
                    <a:pt x="0" y="0"/>
                  </a:moveTo>
                  <a:lnTo>
                    <a:pt x="7984871" y="0"/>
                  </a:lnTo>
                  <a:lnTo>
                    <a:pt x="7984871" y="6621653"/>
                  </a:lnTo>
                  <a:lnTo>
                    <a:pt x="0" y="6621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INDICADORES 7 Y 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Aportes del equipo y participación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321750" y="3058988"/>
          <a:ext cx="15925800" cy="6553200"/>
        </p:xfrm>
        <a:graphic>
          <a:graphicData uri="http://schemas.openxmlformats.org/drawingml/2006/table">
            <a:tbl>
              <a:tblPr/>
              <a:tblGrid>
                <a:gridCol w="2723212"/>
                <a:gridCol w="2865789"/>
                <a:gridCol w="3892340"/>
                <a:gridCol w="6444460"/>
              </a:tblGrid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475569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Integrante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475569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Rol Principal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475569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Evidencia Git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475569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Tema a Exponer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F172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Celine Alcaíno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Front-End &amp; UX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celine_alcaino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Flujo React, diseño visual e integración UI.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F172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Raúl Barrera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Back-End &amp; IA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raul_barrera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RAG, endpoints, BD y automatización.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F172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Justo Cano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QA &amp; Analista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justo_cano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26"/>
                        </a:lnSpc>
                        <a:defRPr/>
                      </a:pPr>
                      <a:r>
                        <a:rPr lang="en-US" sz="27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Pruebas, flujos ágiles y validación normativa.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2A9DEB"/>
            </a:solidFill>
            <a:ln w="19050" cap="sq">
              <a:solidFill>
                <a:srgbClr val="2A9D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848088"/>
            <a:ext cx="5486400" cy="246888"/>
            <a:chOff x="0" y="0"/>
            <a:chExt cx="73152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315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NormIA · Proyecto APT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848088"/>
            <a:ext cx="2468880" cy="246888"/>
            <a:chOff x="0" y="0"/>
            <a:chExt cx="329184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2918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7890A1"/>
                  </a:solidFill>
                  <a:latin typeface="Arial"/>
                  <a:ea typeface="Arial"/>
                  <a:cs typeface="Arial"/>
                  <a:sym typeface="Arial"/>
                </a:rPr>
                <a:t>Avance Fase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630936"/>
            <a:ext cx="4663440" cy="329184"/>
            <a:chOff x="0" y="0"/>
            <a:chExt cx="621792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438912"/>
            </a:xfrm>
            <a:custGeom>
              <a:avLst/>
              <a:gdLst/>
              <a:ahLst/>
              <a:cxnLst/>
              <a:rect r="r" b="b" t="t" l="l"/>
              <a:pathLst>
                <a:path h="43891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17A9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CONTINUIDAD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069848"/>
            <a:ext cx="16253460" cy="987552"/>
            <a:chOff x="0" y="0"/>
            <a:chExt cx="2167128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6712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53A59"/>
                  </a:solidFill>
                  <a:latin typeface="Play Bold"/>
                  <a:ea typeface="Play Bold"/>
                  <a:cs typeface="Play Bold"/>
                  <a:sym typeface="Play Bold"/>
                </a:rPr>
                <a:t>Próximos pasos del proyecto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538173" y="9819875"/>
            <a:ext cx="201197" cy="20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4532" y="2936081"/>
            <a:ext cx="7695333" cy="3157538"/>
            <a:chOff x="0" y="0"/>
            <a:chExt cx="10260444" cy="4210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0457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260457">
                  <a:moveTo>
                    <a:pt x="0" y="459232"/>
                  </a:moveTo>
                  <a:cubicBezTo>
                    <a:pt x="0" y="205613"/>
                    <a:pt x="205613" y="0"/>
                    <a:pt x="459232" y="0"/>
                  </a:cubicBezTo>
                  <a:lnTo>
                    <a:pt x="9801225" y="0"/>
                  </a:lnTo>
                  <a:cubicBezTo>
                    <a:pt x="10054844" y="0"/>
                    <a:pt x="10260457" y="205613"/>
                    <a:pt x="10260457" y="459232"/>
                  </a:cubicBezTo>
                  <a:lnTo>
                    <a:pt x="10260457" y="3750818"/>
                  </a:lnTo>
                  <a:cubicBezTo>
                    <a:pt x="10260457" y="4004437"/>
                    <a:pt x="10054844" y="4210050"/>
                    <a:pt x="9801225" y="4210050"/>
                  </a:cubicBezTo>
                  <a:lnTo>
                    <a:pt x="459232" y="4210050"/>
                  </a:lnTo>
                  <a:cubicBezTo>
                    <a:pt x="205613" y="4210050"/>
                    <a:pt x="0" y="4004437"/>
                    <a:pt x="0" y="375081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08306" y="2936081"/>
            <a:ext cx="7695333" cy="3157538"/>
            <a:chOff x="0" y="0"/>
            <a:chExt cx="10260444" cy="4210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457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260457">
                  <a:moveTo>
                    <a:pt x="0" y="459232"/>
                  </a:moveTo>
                  <a:cubicBezTo>
                    <a:pt x="0" y="205613"/>
                    <a:pt x="205613" y="0"/>
                    <a:pt x="459232" y="0"/>
                  </a:cubicBezTo>
                  <a:lnTo>
                    <a:pt x="9801225" y="0"/>
                  </a:lnTo>
                  <a:cubicBezTo>
                    <a:pt x="10054844" y="0"/>
                    <a:pt x="10260457" y="205613"/>
                    <a:pt x="10260457" y="459232"/>
                  </a:cubicBezTo>
                  <a:lnTo>
                    <a:pt x="10260457" y="3750818"/>
                  </a:lnTo>
                  <a:cubicBezTo>
                    <a:pt x="10260457" y="4004437"/>
                    <a:pt x="10054844" y="4210050"/>
                    <a:pt x="9801225" y="4210050"/>
                  </a:cubicBezTo>
                  <a:lnTo>
                    <a:pt x="459232" y="4210050"/>
                  </a:lnTo>
                  <a:cubicBezTo>
                    <a:pt x="205613" y="4210050"/>
                    <a:pt x="0" y="4004437"/>
                    <a:pt x="0" y="375081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84532" y="6422231"/>
            <a:ext cx="7695333" cy="3157538"/>
            <a:chOff x="0" y="0"/>
            <a:chExt cx="10260444" cy="4210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60457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260457">
                  <a:moveTo>
                    <a:pt x="0" y="459232"/>
                  </a:moveTo>
                  <a:cubicBezTo>
                    <a:pt x="0" y="205613"/>
                    <a:pt x="205613" y="0"/>
                    <a:pt x="459232" y="0"/>
                  </a:cubicBezTo>
                  <a:lnTo>
                    <a:pt x="9801225" y="0"/>
                  </a:lnTo>
                  <a:cubicBezTo>
                    <a:pt x="10054844" y="0"/>
                    <a:pt x="10260457" y="205613"/>
                    <a:pt x="10260457" y="459232"/>
                  </a:cubicBezTo>
                  <a:lnTo>
                    <a:pt x="10260457" y="3750818"/>
                  </a:lnTo>
                  <a:cubicBezTo>
                    <a:pt x="10260457" y="4004437"/>
                    <a:pt x="10054844" y="4210050"/>
                    <a:pt x="9801225" y="4210050"/>
                  </a:cubicBezTo>
                  <a:lnTo>
                    <a:pt x="459232" y="4210050"/>
                  </a:lnTo>
                  <a:cubicBezTo>
                    <a:pt x="205613" y="4210050"/>
                    <a:pt x="0" y="4004437"/>
                    <a:pt x="0" y="375081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308306" y="6422231"/>
            <a:ext cx="7695333" cy="3157538"/>
            <a:chOff x="0" y="0"/>
            <a:chExt cx="10260444" cy="4210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60457" cy="4210050"/>
            </a:xfrm>
            <a:custGeom>
              <a:avLst/>
              <a:gdLst/>
              <a:ahLst/>
              <a:cxnLst/>
              <a:rect r="r" b="b" t="t" l="l"/>
              <a:pathLst>
                <a:path h="4210050" w="10260457">
                  <a:moveTo>
                    <a:pt x="0" y="459232"/>
                  </a:moveTo>
                  <a:cubicBezTo>
                    <a:pt x="0" y="205613"/>
                    <a:pt x="205613" y="0"/>
                    <a:pt x="459232" y="0"/>
                  </a:cubicBezTo>
                  <a:lnTo>
                    <a:pt x="9801225" y="0"/>
                  </a:lnTo>
                  <a:cubicBezTo>
                    <a:pt x="10054844" y="0"/>
                    <a:pt x="10260457" y="205613"/>
                    <a:pt x="10260457" y="459232"/>
                  </a:cubicBezTo>
                  <a:lnTo>
                    <a:pt x="10260457" y="3750818"/>
                  </a:lnTo>
                  <a:cubicBezTo>
                    <a:pt x="10260457" y="4004437"/>
                    <a:pt x="10054844" y="4210050"/>
                    <a:pt x="9801225" y="4210050"/>
                  </a:cubicBezTo>
                  <a:lnTo>
                    <a:pt x="459232" y="4210050"/>
                  </a:lnTo>
                  <a:cubicBezTo>
                    <a:pt x="205613" y="4210050"/>
                    <a:pt x="0" y="4004437"/>
                    <a:pt x="0" y="375081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877463" y="4262437"/>
            <a:ext cx="8543249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Análisis Predictivo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7463" y="4710113"/>
            <a:ext cx="6652346" cy="7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Modelos IA para predecir vulnerabilidades antes de incidentes críticos.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1238" y="4262437"/>
            <a:ext cx="8386648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Integraciones 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1238" y="4710113"/>
            <a:ext cx="6652346" cy="7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Conexión directa con ERPs corporativos y sistemas gubernamentales.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77463" y="7748587"/>
            <a:ext cx="8543249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App Móvil Nativa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77463" y="8196263"/>
            <a:ext cx="6652346" cy="7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Auditorías en terreno y alertas push de brechas en tiempo real.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1238" y="7748587"/>
            <a:ext cx="8386648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Remediación Autónoma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1238" y="8196263"/>
            <a:ext cx="6652346" cy="7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Scripts automáticos para corregir configuraciones de red inseguras.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778053" y="9712166"/>
            <a:ext cx="11995052" cy="42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del tablero de Miro: https://miro.com/app/board/uXjVEYnGyd4=/?share_link_id=751420243517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DAHYNymSl4A</dc:identifier>
  <dcterms:modified xsi:type="dcterms:W3CDTF">2011-08-01T06:04:30Z</dcterms:modified>
  <cp:revision>1</cp:revision>
  <dc:title>NormIA_Avance_Fase_2.pptx</dc:title>
</cp:coreProperties>
</file>